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71" r:id="rId9"/>
    <p:sldId id="272" r:id="rId10"/>
    <p:sldId id="263" r:id="rId11"/>
    <p:sldId id="264" r:id="rId12"/>
    <p:sldId id="265" r:id="rId13"/>
    <p:sldId id="267" r:id="rId14"/>
    <p:sldId id="269" r:id="rId15"/>
    <p:sldId id="270" r:id="rId16"/>
  </p:sldIdLst>
  <p:sldSz cx="18288000" cy="10287000"/>
  <p:notesSz cx="6858000" cy="9144000"/>
  <p:embeddedFontLst>
    <p:embeddedFont>
      <p:font typeface="Butcherman Caps" panose="020B0604020202020204" charset="0"/>
      <p:regular r:id="rId17"/>
    </p:embeddedFont>
    <p:embeddedFont>
      <p:font typeface="Cantora One" panose="020B0604020202020204" charset="0"/>
      <p:regular r:id="rId18"/>
    </p:embeddedFont>
    <p:embeddedFont>
      <p:font typeface="Jeepers" panose="020B0604020202020204" charset="0"/>
      <p:regular r:id="rId19"/>
    </p:embeddedFont>
    <p:embeddedFont>
      <p:font typeface="Open Sauce" panose="020B0604020202020204" charset="0"/>
      <p:regular r:id="rId20"/>
    </p:embeddedFont>
    <p:embeddedFont>
      <p:font typeface="TT Commons Pro"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1BBB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1" d="100"/>
          <a:sy n="61" d="100"/>
        </p:scale>
        <p:origin x="780" y="5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12/21/2024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12/21/2024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12/21/2024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6.png"/><Relationship Id="rId7" Type="http://schemas.openxmlformats.org/officeDocument/2006/relationships/image" Target="../media/image28.pn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4469" t="-8787" b="-14719"/>
            </a:stretch>
          </a:blipFill>
        </p:spPr>
        <p:txBody>
          <a:bodyPr/>
          <a:lstStyle/>
          <a:p>
            <a:endParaRPr lang="en-IN"/>
          </a:p>
        </p:txBody>
      </p:sp>
      <p:sp>
        <p:nvSpPr>
          <p:cNvPr id="3" name="TextBox 3"/>
          <p:cNvSpPr txBox="1"/>
          <p:nvPr/>
        </p:nvSpPr>
        <p:spPr>
          <a:xfrm>
            <a:off x="0" y="6406283"/>
            <a:ext cx="18288000" cy="2564805"/>
          </a:xfrm>
          <a:prstGeom prst="rect">
            <a:avLst/>
          </a:prstGeom>
        </p:spPr>
        <p:txBody>
          <a:bodyPr wrap="square" lIns="0" tIns="0" rIns="0" bIns="0" rtlCol="0" anchor="t">
            <a:spAutoFit/>
          </a:bodyPr>
          <a:lstStyle/>
          <a:p>
            <a:pPr algn="ctr">
              <a:lnSpc>
                <a:spcPts val="9975"/>
              </a:lnSpc>
            </a:pPr>
            <a:r>
              <a:rPr lang="en-US" sz="9600" b="0" i="0" dirty="0">
                <a:solidFill>
                  <a:srgbClr val="FFFFFF"/>
                </a:solidFill>
                <a:effectLst/>
                <a:latin typeface="Jeepers" panose="020B0604020202020204" charset="0"/>
                <a:ea typeface="Jeepers" panose="020B0604020202020204" charset="0"/>
              </a:rPr>
              <a:t>THE LAST VRISION:</a:t>
            </a:r>
            <a:endParaRPr lang="en-US" sz="9600" dirty="0">
              <a:solidFill>
                <a:srgbClr val="FFFFFF"/>
              </a:solidFill>
              <a:effectLst/>
              <a:latin typeface="Jeepers" panose="020B0604020202020204" charset="0"/>
              <a:ea typeface="Jeepers" panose="020B0604020202020204" charset="0"/>
            </a:endParaRPr>
          </a:p>
          <a:p>
            <a:pPr algn="ctr">
              <a:lnSpc>
                <a:spcPts val="9975"/>
              </a:lnSpc>
            </a:pPr>
            <a:r>
              <a:rPr lang="en-US" sz="9600" b="0" i="0" dirty="0">
                <a:solidFill>
                  <a:srgbClr val="FFFFFF"/>
                </a:solidFill>
                <a:effectLst/>
                <a:latin typeface="Jeepers" panose="020B0604020202020204" charset="0"/>
                <a:ea typeface="Jeepers" panose="020B0604020202020204" charset="0"/>
              </a:rPr>
              <a:t>MANKIND’S LAST HOPE</a:t>
            </a:r>
            <a:endParaRPr lang="en-US" sz="9600" dirty="0">
              <a:solidFill>
                <a:srgbClr val="FFFFFF"/>
              </a:solidFill>
              <a:effectLst/>
              <a:latin typeface="Jeepers" panose="020B0604020202020204" charset="0"/>
              <a:ea typeface="Jeepers" panose="020B0604020202020204" charset="0"/>
            </a:endParaRPr>
          </a:p>
        </p:txBody>
      </p:sp>
      <p:sp>
        <p:nvSpPr>
          <p:cNvPr id="4" name="TextBox 4"/>
          <p:cNvSpPr txBox="1"/>
          <p:nvPr/>
        </p:nvSpPr>
        <p:spPr>
          <a:xfrm>
            <a:off x="14401801" y="1302308"/>
            <a:ext cx="2857500" cy="1297086"/>
          </a:xfrm>
          <a:prstGeom prst="rect">
            <a:avLst/>
          </a:prstGeom>
        </p:spPr>
        <p:txBody>
          <a:bodyPr wrap="square" lIns="0" tIns="0" rIns="0" bIns="0" rtlCol="0" anchor="t">
            <a:spAutoFit/>
          </a:bodyPr>
          <a:lstStyle/>
          <a:p>
            <a:pPr algn="r">
              <a:lnSpc>
                <a:spcPts val="5257"/>
              </a:lnSpc>
            </a:pPr>
            <a:r>
              <a:rPr lang="en-US" sz="3755" dirty="0">
                <a:solidFill>
                  <a:srgbClr val="EAEAEA"/>
                </a:solidFill>
                <a:latin typeface="Jeepers"/>
              </a:rPr>
              <a:t>Gauraang Goel </a:t>
            </a:r>
          </a:p>
          <a:p>
            <a:pPr algn="r">
              <a:lnSpc>
                <a:spcPts val="5257"/>
              </a:lnSpc>
            </a:pPr>
            <a:r>
              <a:rPr lang="en-US" sz="3755" dirty="0">
                <a:solidFill>
                  <a:srgbClr val="EAEAEA"/>
                </a:solidFill>
                <a:latin typeface="Jeepers"/>
              </a:rPr>
              <a:t>21CSU319</a:t>
            </a:r>
          </a:p>
        </p:txBody>
      </p:sp>
      <p:sp>
        <p:nvSpPr>
          <p:cNvPr id="5" name="TextBox 5"/>
          <p:cNvSpPr txBox="1"/>
          <p:nvPr/>
        </p:nvSpPr>
        <p:spPr>
          <a:xfrm>
            <a:off x="793119" y="1292783"/>
            <a:ext cx="6826881" cy="1381853"/>
          </a:xfrm>
          <a:prstGeom prst="rect">
            <a:avLst/>
          </a:prstGeom>
        </p:spPr>
        <p:txBody>
          <a:bodyPr wrap="square" lIns="0" tIns="0" rIns="0" bIns="0" rtlCol="0" anchor="t">
            <a:spAutoFit/>
          </a:bodyPr>
          <a:lstStyle/>
          <a:p>
            <a:pPr>
              <a:lnSpc>
                <a:spcPts val="5650"/>
              </a:lnSpc>
            </a:pPr>
            <a:r>
              <a:rPr lang="en-US" sz="4036" dirty="0" err="1">
                <a:solidFill>
                  <a:srgbClr val="EAEAEA"/>
                </a:solidFill>
                <a:latin typeface="Jeepers"/>
              </a:rPr>
              <a:t>MAJor</a:t>
            </a:r>
            <a:r>
              <a:rPr lang="en-US" sz="4036" dirty="0">
                <a:solidFill>
                  <a:srgbClr val="EAEAEA"/>
                </a:solidFill>
                <a:latin typeface="Jeepers"/>
              </a:rPr>
              <a:t> Evaluation Project</a:t>
            </a:r>
          </a:p>
          <a:p>
            <a:pPr>
              <a:lnSpc>
                <a:spcPts val="5650"/>
              </a:lnSpc>
            </a:pPr>
            <a:r>
              <a:rPr lang="en-US" sz="4036" dirty="0">
                <a:solidFill>
                  <a:srgbClr val="EAEAEA"/>
                </a:solidFill>
                <a:latin typeface="Jeepers"/>
              </a:rPr>
              <a:t> </a:t>
            </a:r>
            <a:r>
              <a:rPr lang="en-US" sz="3336" dirty="0">
                <a:solidFill>
                  <a:srgbClr val="EAEAEA"/>
                </a:solidFill>
                <a:latin typeface="Cantora One"/>
              </a:rPr>
              <a:t>(UNREAL ENGINE VR DEVELOPMET)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21210"/>
        </a:solidFill>
        <a:effectLst/>
      </p:bgPr>
    </p:bg>
    <p:spTree>
      <p:nvGrpSpPr>
        <p:cNvPr id="1" name=""/>
        <p:cNvGrpSpPr/>
        <p:nvPr/>
      </p:nvGrpSpPr>
      <p:grpSpPr>
        <a:xfrm>
          <a:off x="0" y="0"/>
          <a:ext cx="0" cy="0"/>
          <a:chOff x="0" y="0"/>
          <a:chExt cx="0" cy="0"/>
        </a:xfrm>
      </p:grpSpPr>
      <p:sp>
        <p:nvSpPr>
          <p:cNvPr id="2" name="AutoShape 2"/>
          <p:cNvSpPr/>
          <p:nvPr/>
        </p:nvSpPr>
        <p:spPr>
          <a:xfrm rot="5400000">
            <a:off x="4435388" y="5991700"/>
            <a:ext cx="3438574" cy="0"/>
          </a:xfrm>
          <a:prstGeom prst="line">
            <a:avLst/>
          </a:prstGeom>
          <a:ln w="19050" cap="rnd">
            <a:solidFill>
              <a:srgbClr val="565751"/>
            </a:solidFill>
            <a:prstDash val="solid"/>
            <a:headEnd type="none" w="sm" len="sm"/>
            <a:tailEnd type="none" w="sm" len="sm"/>
          </a:ln>
        </p:spPr>
        <p:txBody>
          <a:bodyPr/>
          <a:lstStyle/>
          <a:p>
            <a:endParaRPr lang="en-IN"/>
          </a:p>
        </p:txBody>
      </p:sp>
      <p:sp>
        <p:nvSpPr>
          <p:cNvPr id="3" name="AutoShape 3"/>
          <p:cNvSpPr/>
          <p:nvPr/>
        </p:nvSpPr>
        <p:spPr>
          <a:xfrm rot="5400000">
            <a:off x="10367698" y="5728468"/>
            <a:ext cx="2912110" cy="0"/>
          </a:xfrm>
          <a:prstGeom prst="line">
            <a:avLst/>
          </a:prstGeom>
          <a:ln w="19050" cap="rnd">
            <a:solidFill>
              <a:srgbClr val="565751"/>
            </a:solidFill>
            <a:prstDash val="solid"/>
            <a:headEnd type="none" w="sm" len="sm"/>
            <a:tailEnd type="none" w="sm" len="sm"/>
          </a:ln>
        </p:spPr>
        <p:txBody>
          <a:bodyPr/>
          <a:lstStyle/>
          <a:p>
            <a:endParaRPr lang="en-IN"/>
          </a:p>
        </p:txBody>
      </p:sp>
      <p:sp>
        <p:nvSpPr>
          <p:cNvPr id="4" name="Freeform 4"/>
          <p:cNvSpPr/>
          <p:nvPr/>
        </p:nvSpPr>
        <p:spPr>
          <a:xfrm>
            <a:off x="-1640254" y="-2360235"/>
            <a:ext cx="6932090" cy="9431415"/>
          </a:xfrm>
          <a:custGeom>
            <a:avLst/>
            <a:gdLst/>
            <a:ahLst/>
            <a:cxnLst/>
            <a:rect l="l" t="t" r="r" b="b"/>
            <a:pathLst>
              <a:path w="6932090" h="9431415">
                <a:moveTo>
                  <a:pt x="0" y="0"/>
                </a:moveTo>
                <a:lnTo>
                  <a:pt x="6932090" y="0"/>
                </a:lnTo>
                <a:lnTo>
                  <a:pt x="6932090" y="9431415"/>
                </a:lnTo>
                <a:lnTo>
                  <a:pt x="0" y="9431415"/>
                </a:lnTo>
                <a:lnTo>
                  <a:pt x="0" y="0"/>
                </a:lnTo>
                <a:close/>
              </a:path>
            </a:pathLst>
          </a:custGeom>
          <a:blipFill>
            <a:blip r:embed="rId2"/>
            <a:stretch>
              <a:fillRect/>
            </a:stretch>
          </a:blipFill>
        </p:spPr>
        <p:txBody>
          <a:bodyPr/>
          <a:lstStyle/>
          <a:p>
            <a:endParaRPr lang="en-IN"/>
          </a:p>
        </p:txBody>
      </p:sp>
      <p:sp>
        <p:nvSpPr>
          <p:cNvPr id="5" name="Freeform 5"/>
          <p:cNvSpPr/>
          <p:nvPr/>
        </p:nvSpPr>
        <p:spPr>
          <a:xfrm rot="4730985">
            <a:off x="12721042" y="6887684"/>
            <a:ext cx="6141339" cy="8229600"/>
          </a:xfrm>
          <a:custGeom>
            <a:avLst/>
            <a:gdLst/>
            <a:ahLst/>
            <a:cxnLst/>
            <a:rect l="l" t="t" r="r" b="b"/>
            <a:pathLst>
              <a:path w="6141339" h="8229600">
                <a:moveTo>
                  <a:pt x="0" y="0"/>
                </a:moveTo>
                <a:lnTo>
                  <a:pt x="6141339" y="0"/>
                </a:lnTo>
                <a:lnTo>
                  <a:pt x="6141339" y="8229600"/>
                </a:lnTo>
                <a:lnTo>
                  <a:pt x="0" y="8229600"/>
                </a:lnTo>
                <a:lnTo>
                  <a:pt x="0" y="0"/>
                </a:lnTo>
                <a:close/>
              </a:path>
            </a:pathLst>
          </a:custGeom>
          <a:blipFill>
            <a:blip r:embed="rId3"/>
            <a:stretch>
              <a:fillRect/>
            </a:stretch>
          </a:blipFill>
        </p:spPr>
        <p:txBody>
          <a:bodyPr/>
          <a:lstStyle/>
          <a:p>
            <a:endParaRPr lang="en-IN"/>
          </a:p>
        </p:txBody>
      </p:sp>
      <p:sp>
        <p:nvSpPr>
          <p:cNvPr id="6" name="TextBox 6"/>
          <p:cNvSpPr txBox="1"/>
          <p:nvPr/>
        </p:nvSpPr>
        <p:spPr>
          <a:xfrm>
            <a:off x="1010056" y="1888748"/>
            <a:ext cx="12091757" cy="1381125"/>
          </a:xfrm>
          <a:prstGeom prst="rect">
            <a:avLst/>
          </a:prstGeom>
        </p:spPr>
        <p:txBody>
          <a:bodyPr lIns="0" tIns="0" rIns="0" bIns="0" rtlCol="0" anchor="t">
            <a:spAutoFit/>
          </a:bodyPr>
          <a:lstStyle/>
          <a:p>
            <a:pPr>
              <a:lnSpc>
                <a:spcPts val="12000"/>
              </a:lnSpc>
            </a:pPr>
            <a:r>
              <a:rPr lang="en-US" sz="6000">
                <a:solidFill>
                  <a:srgbClr val="EAEAEA"/>
                </a:solidFill>
                <a:latin typeface="Jeepers"/>
              </a:rPr>
              <a:t>Table Of Content</a:t>
            </a:r>
          </a:p>
        </p:txBody>
      </p:sp>
      <p:sp>
        <p:nvSpPr>
          <p:cNvPr id="7" name="TextBox 7"/>
          <p:cNvSpPr txBox="1"/>
          <p:nvPr/>
        </p:nvSpPr>
        <p:spPr>
          <a:xfrm>
            <a:off x="2269004" y="4237331"/>
            <a:ext cx="3922595" cy="565150"/>
          </a:xfrm>
          <a:prstGeom prst="rect">
            <a:avLst/>
          </a:prstGeom>
        </p:spPr>
        <p:txBody>
          <a:bodyPr lIns="0" tIns="0" rIns="0" bIns="0" rtlCol="0" anchor="t">
            <a:spAutoFit/>
          </a:bodyPr>
          <a:lstStyle/>
          <a:p>
            <a:pPr>
              <a:lnSpc>
                <a:spcPts val="4999"/>
              </a:lnSpc>
              <a:spcBef>
                <a:spcPct val="0"/>
              </a:spcBef>
            </a:pPr>
            <a:r>
              <a:rPr lang="en-US" sz="2499">
                <a:solidFill>
                  <a:srgbClr val="EAEAEA"/>
                </a:solidFill>
                <a:latin typeface="Cantora One"/>
              </a:rPr>
              <a:t>ABOUT THE GAME</a:t>
            </a:r>
          </a:p>
        </p:txBody>
      </p:sp>
      <p:sp>
        <p:nvSpPr>
          <p:cNvPr id="8" name="TextBox 8"/>
          <p:cNvSpPr txBox="1"/>
          <p:nvPr/>
        </p:nvSpPr>
        <p:spPr>
          <a:xfrm>
            <a:off x="1417923" y="4237331"/>
            <a:ext cx="815735" cy="565150"/>
          </a:xfrm>
          <a:prstGeom prst="rect">
            <a:avLst/>
          </a:prstGeom>
        </p:spPr>
        <p:txBody>
          <a:bodyPr lIns="0" tIns="0" rIns="0" bIns="0" rtlCol="0" anchor="t">
            <a:spAutoFit/>
          </a:bodyPr>
          <a:lstStyle/>
          <a:p>
            <a:pPr>
              <a:lnSpc>
                <a:spcPts val="4999"/>
              </a:lnSpc>
              <a:spcBef>
                <a:spcPct val="0"/>
              </a:spcBef>
            </a:pPr>
            <a:r>
              <a:rPr lang="en-US" sz="2499">
                <a:solidFill>
                  <a:srgbClr val="EAEAEA"/>
                </a:solidFill>
                <a:latin typeface="Cantora One"/>
              </a:rPr>
              <a:t>01</a:t>
            </a:r>
          </a:p>
        </p:txBody>
      </p:sp>
      <p:sp>
        <p:nvSpPr>
          <p:cNvPr id="9" name="TextBox 9"/>
          <p:cNvSpPr txBox="1"/>
          <p:nvPr/>
        </p:nvSpPr>
        <p:spPr>
          <a:xfrm>
            <a:off x="7248874" y="4237331"/>
            <a:ext cx="815735" cy="565150"/>
          </a:xfrm>
          <a:prstGeom prst="rect">
            <a:avLst/>
          </a:prstGeom>
        </p:spPr>
        <p:txBody>
          <a:bodyPr lIns="0" tIns="0" rIns="0" bIns="0" rtlCol="0" anchor="t">
            <a:spAutoFit/>
          </a:bodyPr>
          <a:lstStyle/>
          <a:p>
            <a:pPr>
              <a:lnSpc>
                <a:spcPts val="4999"/>
              </a:lnSpc>
              <a:spcBef>
                <a:spcPct val="0"/>
              </a:spcBef>
            </a:pPr>
            <a:r>
              <a:rPr lang="en-US" sz="2499">
                <a:solidFill>
                  <a:srgbClr val="EAEAEA"/>
                </a:solidFill>
                <a:latin typeface="Cantora One"/>
              </a:rPr>
              <a:t>05</a:t>
            </a:r>
          </a:p>
        </p:txBody>
      </p:sp>
      <p:sp>
        <p:nvSpPr>
          <p:cNvPr id="10" name="TextBox 10"/>
          <p:cNvSpPr txBox="1"/>
          <p:nvPr/>
        </p:nvSpPr>
        <p:spPr>
          <a:xfrm>
            <a:off x="12693946" y="4237331"/>
            <a:ext cx="815735" cy="565150"/>
          </a:xfrm>
          <a:prstGeom prst="rect">
            <a:avLst/>
          </a:prstGeom>
        </p:spPr>
        <p:txBody>
          <a:bodyPr lIns="0" tIns="0" rIns="0" bIns="0" rtlCol="0" anchor="t">
            <a:spAutoFit/>
          </a:bodyPr>
          <a:lstStyle/>
          <a:p>
            <a:pPr>
              <a:lnSpc>
                <a:spcPts val="4999"/>
              </a:lnSpc>
              <a:spcBef>
                <a:spcPct val="0"/>
              </a:spcBef>
            </a:pPr>
            <a:r>
              <a:rPr lang="en-US" sz="2499">
                <a:solidFill>
                  <a:srgbClr val="EAEAEA"/>
                </a:solidFill>
                <a:latin typeface="Cantora One"/>
              </a:rPr>
              <a:t>09</a:t>
            </a:r>
          </a:p>
        </p:txBody>
      </p:sp>
      <p:sp>
        <p:nvSpPr>
          <p:cNvPr id="11" name="TextBox 11"/>
          <p:cNvSpPr txBox="1"/>
          <p:nvPr/>
        </p:nvSpPr>
        <p:spPr>
          <a:xfrm>
            <a:off x="8064609" y="4983978"/>
            <a:ext cx="3452115" cy="565150"/>
          </a:xfrm>
          <a:prstGeom prst="rect">
            <a:avLst/>
          </a:prstGeom>
        </p:spPr>
        <p:txBody>
          <a:bodyPr lIns="0" tIns="0" rIns="0" bIns="0" rtlCol="0" anchor="t">
            <a:spAutoFit/>
          </a:bodyPr>
          <a:lstStyle/>
          <a:p>
            <a:pPr>
              <a:lnSpc>
                <a:spcPts val="4999"/>
              </a:lnSpc>
              <a:spcBef>
                <a:spcPct val="0"/>
              </a:spcBef>
            </a:pPr>
            <a:r>
              <a:rPr lang="en-US" sz="2499">
                <a:solidFill>
                  <a:srgbClr val="EAEAEA"/>
                </a:solidFill>
                <a:latin typeface="Cantora One"/>
              </a:rPr>
              <a:t>IN GAME SCREENSHOTS</a:t>
            </a:r>
          </a:p>
        </p:txBody>
      </p:sp>
      <p:sp>
        <p:nvSpPr>
          <p:cNvPr id="12" name="TextBox 12"/>
          <p:cNvSpPr txBox="1"/>
          <p:nvPr/>
        </p:nvSpPr>
        <p:spPr>
          <a:xfrm>
            <a:off x="2269004" y="4906190"/>
            <a:ext cx="3452115" cy="565150"/>
          </a:xfrm>
          <a:prstGeom prst="rect">
            <a:avLst/>
          </a:prstGeom>
        </p:spPr>
        <p:txBody>
          <a:bodyPr lIns="0" tIns="0" rIns="0" bIns="0" rtlCol="0" anchor="t">
            <a:spAutoFit/>
          </a:bodyPr>
          <a:lstStyle/>
          <a:p>
            <a:pPr>
              <a:lnSpc>
                <a:spcPts val="4999"/>
              </a:lnSpc>
              <a:spcBef>
                <a:spcPct val="0"/>
              </a:spcBef>
            </a:pPr>
            <a:r>
              <a:rPr lang="en-US" sz="2499">
                <a:solidFill>
                  <a:srgbClr val="EAEAEA"/>
                </a:solidFill>
                <a:latin typeface="Cantora One"/>
              </a:rPr>
              <a:t>OBJECTIVES</a:t>
            </a:r>
          </a:p>
        </p:txBody>
      </p:sp>
      <p:sp>
        <p:nvSpPr>
          <p:cNvPr id="13" name="TextBox 13"/>
          <p:cNvSpPr txBox="1"/>
          <p:nvPr/>
        </p:nvSpPr>
        <p:spPr>
          <a:xfrm>
            <a:off x="1417923" y="4955219"/>
            <a:ext cx="815735" cy="565150"/>
          </a:xfrm>
          <a:prstGeom prst="rect">
            <a:avLst/>
          </a:prstGeom>
        </p:spPr>
        <p:txBody>
          <a:bodyPr lIns="0" tIns="0" rIns="0" bIns="0" rtlCol="0" anchor="t">
            <a:spAutoFit/>
          </a:bodyPr>
          <a:lstStyle/>
          <a:p>
            <a:pPr>
              <a:lnSpc>
                <a:spcPts val="4999"/>
              </a:lnSpc>
              <a:spcBef>
                <a:spcPct val="0"/>
              </a:spcBef>
            </a:pPr>
            <a:r>
              <a:rPr lang="en-US" sz="2499">
                <a:solidFill>
                  <a:srgbClr val="EAEAEA"/>
                </a:solidFill>
                <a:latin typeface="Cantora One"/>
              </a:rPr>
              <a:t>02</a:t>
            </a:r>
          </a:p>
        </p:txBody>
      </p:sp>
      <p:sp>
        <p:nvSpPr>
          <p:cNvPr id="14" name="TextBox 14"/>
          <p:cNvSpPr txBox="1"/>
          <p:nvPr/>
        </p:nvSpPr>
        <p:spPr>
          <a:xfrm>
            <a:off x="7248874" y="4955219"/>
            <a:ext cx="815735" cy="565150"/>
          </a:xfrm>
          <a:prstGeom prst="rect">
            <a:avLst/>
          </a:prstGeom>
        </p:spPr>
        <p:txBody>
          <a:bodyPr lIns="0" tIns="0" rIns="0" bIns="0" rtlCol="0" anchor="t">
            <a:spAutoFit/>
          </a:bodyPr>
          <a:lstStyle/>
          <a:p>
            <a:pPr>
              <a:lnSpc>
                <a:spcPts val="4999"/>
              </a:lnSpc>
              <a:spcBef>
                <a:spcPct val="0"/>
              </a:spcBef>
            </a:pPr>
            <a:r>
              <a:rPr lang="en-US" sz="2499">
                <a:solidFill>
                  <a:srgbClr val="EAEAEA"/>
                </a:solidFill>
                <a:latin typeface="Cantora One"/>
              </a:rPr>
              <a:t>06</a:t>
            </a:r>
          </a:p>
        </p:txBody>
      </p:sp>
      <p:sp>
        <p:nvSpPr>
          <p:cNvPr id="15" name="TextBox 15"/>
          <p:cNvSpPr txBox="1"/>
          <p:nvPr/>
        </p:nvSpPr>
        <p:spPr>
          <a:xfrm>
            <a:off x="8064609" y="6293325"/>
            <a:ext cx="3452115" cy="565150"/>
          </a:xfrm>
          <a:prstGeom prst="rect">
            <a:avLst/>
          </a:prstGeom>
        </p:spPr>
        <p:txBody>
          <a:bodyPr lIns="0" tIns="0" rIns="0" bIns="0" rtlCol="0" anchor="t">
            <a:spAutoFit/>
          </a:bodyPr>
          <a:lstStyle/>
          <a:p>
            <a:pPr>
              <a:lnSpc>
                <a:spcPts val="4999"/>
              </a:lnSpc>
              <a:spcBef>
                <a:spcPct val="0"/>
              </a:spcBef>
            </a:pPr>
            <a:r>
              <a:rPr lang="en-US" sz="2499">
                <a:solidFill>
                  <a:srgbClr val="EAEAEA"/>
                </a:solidFill>
                <a:latin typeface="Cantora One"/>
              </a:rPr>
              <a:t>REFERNCES</a:t>
            </a:r>
          </a:p>
        </p:txBody>
      </p:sp>
      <p:sp>
        <p:nvSpPr>
          <p:cNvPr id="16" name="TextBox 16"/>
          <p:cNvSpPr txBox="1"/>
          <p:nvPr/>
        </p:nvSpPr>
        <p:spPr>
          <a:xfrm>
            <a:off x="1417923" y="5623400"/>
            <a:ext cx="815735" cy="565150"/>
          </a:xfrm>
          <a:prstGeom prst="rect">
            <a:avLst/>
          </a:prstGeom>
        </p:spPr>
        <p:txBody>
          <a:bodyPr lIns="0" tIns="0" rIns="0" bIns="0" rtlCol="0" anchor="t">
            <a:spAutoFit/>
          </a:bodyPr>
          <a:lstStyle/>
          <a:p>
            <a:pPr>
              <a:lnSpc>
                <a:spcPts val="4999"/>
              </a:lnSpc>
              <a:spcBef>
                <a:spcPct val="0"/>
              </a:spcBef>
            </a:pPr>
            <a:r>
              <a:rPr lang="en-US" sz="2499">
                <a:solidFill>
                  <a:srgbClr val="EAEAEA"/>
                </a:solidFill>
                <a:latin typeface="Cantora One"/>
              </a:rPr>
              <a:t>03</a:t>
            </a:r>
          </a:p>
        </p:txBody>
      </p:sp>
      <p:sp>
        <p:nvSpPr>
          <p:cNvPr id="17" name="TextBox 17"/>
          <p:cNvSpPr txBox="1"/>
          <p:nvPr/>
        </p:nvSpPr>
        <p:spPr>
          <a:xfrm>
            <a:off x="7248874" y="5730624"/>
            <a:ext cx="815735" cy="565150"/>
          </a:xfrm>
          <a:prstGeom prst="rect">
            <a:avLst/>
          </a:prstGeom>
        </p:spPr>
        <p:txBody>
          <a:bodyPr lIns="0" tIns="0" rIns="0" bIns="0" rtlCol="0" anchor="t">
            <a:spAutoFit/>
          </a:bodyPr>
          <a:lstStyle/>
          <a:p>
            <a:pPr>
              <a:lnSpc>
                <a:spcPts val="4999"/>
              </a:lnSpc>
              <a:spcBef>
                <a:spcPct val="0"/>
              </a:spcBef>
            </a:pPr>
            <a:r>
              <a:rPr lang="en-US" sz="2499">
                <a:solidFill>
                  <a:srgbClr val="EAEAEA"/>
                </a:solidFill>
                <a:latin typeface="Cantora One"/>
              </a:rPr>
              <a:t>07</a:t>
            </a:r>
          </a:p>
        </p:txBody>
      </p:sp>
      <p:sp>
        <p:nvSpPr>
          <p:cNvPr id="18" name="TextBox 18"/>
          <p:cNvSpPr txBox="1"/>
          <p:nvPr/>
        </p:nvSpPr>
        <p:spPr>
          <a:xfrm>
            <a:off x="8064609" y="5730624"/>
            <a:ext cx="3452115" cy="565150"/>
          </a:xfrm>
          <a:prstGeom prst="rect">
            <a:avLst/>
          </a:prstGeom>
        </p:spPr>
        <p:txBody>
          <a:bodyPr lIns="0" tIns="0" rIns="0" bIns="0" rtlCol="0" anchor="t">
            <a:spAutoFit/>
          </a:bodyPr>
          <a:lstStyle/>
          <a:p>
            <a:pPr>
              <a:lnSpc>
                <a:spcPts val="4999"/>
              </a:lnSpc>
              <a:spcBef>
                <a:spcPct val="0"/>
              </a:spcBef>
            </a:pPr>
            <a:r>
              <a:rPr lang="en-US" sz="2499">
                <a:solidFill>
                  <a:srgbClr val="EAEAEA"/>
                </a:solidFill>
                <a:latin typeface="Cantora One"/>
              </a:rPr>
              <a:t>ASSET USED</a:t>
            </a:r>
          </a:p>
        </p:txBody>
      </p:sp>
      <p:sp>
        <p:nvSpPr>
          <p:cNvPr id="19" name="TextBox 19"/>
          <p:cNvSpPr txBox="1"/>
          <p:nvPr/>
        </p:nvSpPr>
        <p:spPr>
          <a:xfrm>
            <a:off x="1417923" y="6293325"/>
            <a:ext cx="815735" cy="565150"/>
          </a:xfrm>
          <a:prstGeom prst="rect">
            <a:avLst/>
          </a:prstGeom>
        </p:spPr>
        <p:txBody>
          <a:bodyPr lIns="0" tIns="0" rIns="0" bIns="0" rtlCol="0" anchor="t">
            <a:spAutoFit/>
          </a:bodyPr>
          <a:lstStyle/>
          <a:p>
            <a:pPr>
              <a:lnSpc>
                <a:spcPts val="4999"/>
              </a:lnSpc>
              <a:spcBef>
                <a:spcPct val="0"/>
              </a:spcBef>
            </a:pPr>
            <a:r>
              <a:rPr lang="en-US" sz="2499">
                <a:solidFill>
                  <a:srgbClr val="EAEAEA"/>
                </a:solidFill>
                <a:latin typeface="Cantora One"/>
              </a:rPr>
              <a:t>04</a:t>
            </a:r>
          </a:p>
        </p:txBody>
      </p:sp>
      <p:sp>
        <p:nvSpPr>
          <p:cNvPr id="20" name="TextBox 20"/>
          <p:cNvSpPr txBox="1"/>
          <p:nvPr/>
        </p:nvSpPr>
        <p:spPr>
          <a:xfrm>
            <a:off x="7248874" y="6367086"/>
            <a:ext cx="815735" cy="565150"/>
          </a:xfrm>
          <a:prstGeom prst="rect">
            <a:avLst/>
          </a:prstGeom>
        </p:spPr>
        <p:txBody>
          <a:bodyPr lIns="0" tIns="0" rIns="0" bIns="0" rtlCol="0" anchor="t">
            <a:spAutoFit/>
          </a:bodyPr>
          <a:lstStyle/>
          <a:p>
            <a:pPr>
              <a:lnSpc>
                <a:spcPts val="4999"/>
              </a:lnSpc>
              <a:spcBef>
                <a:spcPct val="0"/>
              </a:spcBef>
            </a:pPr>
            <a:r>
              <a:rPr lang="en-US" sz="2499">
                <a:solidFill>
                  <a:srgbClr val="EAEAEA"/>
                </a:solidFill>
                <a:latin typeface="Cantora One"/>
              </a:rPr>
              <a:t>08</a:t>
            </a:r>
          </a:p>
        </p:txBody>
      </p:sp>
      <p:sp>
        <p:nvSpPr>
          <p:cNvPr id="21" name="TextBox 21"/>
          <p:cNvSpPr txBox="1"/>
          <p:nvPr/>
        </p:nvSpPr>
        <p:spPr>
          <a:xfrm>
            <a:off x="8064609" y="4275953"/>
            <a:ext cx="3676121" cy="565150"/>
          </a:xfrm>
          <a:prstGeom prst="rect">
            <a:avLst/>
          </a:prstGeom>
        </p:spPr>
        <p:txBody>
          <a:bodyPr lIns="0" tIns="0" rIns="0" bIns="0" rtlCol="0" anchor="t">
            <a:spAutoFit/>
          </a:bodyPr>
          <a:lstStyle/>
          <a:p>
            <a:pPr>
              <a:lnSpc>
                <a:spcPts val="4999"/>
              </a:lnSpc>
              <a:spcBef>
                <a:spcPct val="0"/>
              </a:spcBef>
            </a:pPr>
            <a:r>
              <a:rPr lang="en-US" sz="2499">
                <a:solidFill>
                  <a:srgbClr val="EAEAEA"/>
                </a:solidFill>
                <a:latin typeface="Cantora One"/>
              </a:rPr>
              <a:t>STATE MACHINE CHART</a:t>
            </a:r>
          </a:p>
        </p:txBody>
      </p:sp>
      <p:sp>
        <p:nvSpPr>
          <p:cNvPr id="22" name="TextBox 22"/>
          <p:cNvSpPr txBox="1"/>
          <p:nvPr/>
        </p:nvSpPr>
        <p:spPr>
          <a:xfrm>
            <a:off x="2233658" y="5623400"/>
            <a:ext cx="3452115" cy="565150"/>
          </a:xfrm>
          <a:prstGeom prst="rect">
            <a:avLst/>
          </a:prstGeom>
        </p:spPr>
        <p:txBody>
          <a:bodyPr lIns="0" tIns="0" rIns="0" bIns="0" rtlCol="0" anchor="t">
            <a:spAutoFit/>
          </a:bodyPr>
          <a:lstStyle/>
          <a:p>
            <a:pPr>
              <a:lnSpc>
                <a:spcPts val="4999"/>
              </a:lnSpc>
              <a:spcBef>
                <a:spcPct val="0"/>
              </a:spcBef>
            </a:pPr>
            <a:r>
              <a:rPr lang="en-US" sz="2499" dirty="0">
                <a:solidFill>
                  <a:srgbClr val="EAEAEA"/>
                </a:solidFill>
                <a:latin typeface="Cantora One"/>
              </a:rPr>
              <a:t>BLUEPRINTS CREATED</a:t>
            </a:r>
          </a:p>
        </p:txBody>
      </p:sp>
      <p:sp>
        <p:nvSpPr>
          <p:cNvPr id="23" name="TextBox 23"/>
          <p:cNvSpPr txBox="1"/>
          <p:nvPr/>
        </p:nvSpPr>
        <p:spPr>
          <a:xfrm>
            <a:off x="2269004" y="6293325"/>
            <a:ext cx="3452115" cy="565150"/>
          </a:xfrm>
          <a:prstGeom prst="rect">
            <a:avLst/>
          </a:prstGeom>
        </p:spPr>
        <p:txBody>
          <a:bodyPr lIns="0" tIns="0" rIns="0" bIns="0" rtlCol="0" anchor="t">
            <a:spAutoFit/>
          </a:bodyPr>
          <a:lstStyle/>
          <a:p>
            <a:pPr>
              <a:lnSpc>
                <a:spcPts val="4999"/>
              </a:lnSpc>
              <a:spcBef>
                <a:spcPct val="0"/>
              </a:spcBef>
            </a:pPr>
            <a:r>
              <a:rPr lang="en-US" sz="2499">
                <a:solidFill>
                  <a:srgbClr val="EAEAEA"/>
                </a:solidFill>
                <a:latin typeface="Cantora One"/>
              </a:rPr>
              <a:t>FEATURES</a:t>
            </a:r>
          </a:p>
        </p:txBody>
      </p:sp>
      <p:sp>
        <p:nvSpPr>
          <p:cNvPr id="24" name="TextBox 24"/>
          <p:cNvSpPr txBox="1"/>
          <p:nvPr/>
        </p:nvSpPr>
        <p:spPr>
          <a:xfrm>
            <a:off x="13509681" y="4237331"/>
            <a:ext cx="3452115" cy="565150"/>
          </a:xfrm>
          <a:prstGeom prst="rect">
            <a:avLst/>
          </a:prstGeom>
        </p:spPr>
        <p:txBody>
          <a:bodyPr lIns="0" tIns="0" rIns="0" bIns="0" rtlCol="0" anchor="t">
            <a:spAutoFit/>
          </a:bodyPr>
          <a:lstStyle/>
          <a:p>
            <a:pPr>
              <a:lnSpc>
                <a:spcPts val="4999"/>
              </a:lnSpc>
              <a:spcBef>
                <a:spcPct val="0"/>
              </a:spcBef>
            </a:pPr>
            <a:r>
              <a:rPr lang="en-US" sz="2499">
                <a:solidFill>
                  <a:srgbClr val="EAEAEA"/>
                </a:solidFill>
                <a:latin typeface="Cantora One"/>
              </a:rPr>
              <a:t>PROMBLEM FACED</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43A40"/>
        </a:solidFill>
        <a:effectLst/>
      </p:bgPr>
    </p:bg>
    <p:spTree>
      <p:nvGrpSpPr>
        <p:cNvPr id="1" name=""/>
        <p:cNvGrpSpPr/>
        <p:nvPr/>
      </p:nvGrpSpPr>
      <p:grpSpPr>
        <a:xfrm>
          <a:off x="0" y="0"/>
          <a:ext cx="0" cy="0"/>
          <a:chOff x="0" y="0"/>
          <a:chExt cx="0" cy="0"/>
        </a:xfrm>
      </p:grpSpPr>
      <p:sp>
        <p:nvSpPr>
          <p:cNvPr id="2" name="Freeform 2"/>
          <p:cNvSpPr/>
          <p:nvPr/>
        </p:nvSpPr>
        <p:spPr>
          <a:xfrm>
            <a:off x="271562" y="2904148"/>
            <a:ext cx="5405320" cy="4114800"/>
          </a:xfrm>
          <a:custGeom>
            <a:avLst/>
            <a:gdLst/>
            <a:ahLst/>
            <a:cxnLst/>
            <a:rect l="l" t="t" r="r" b="b"/>
            <a:pathLst>
              <a:path w="5405320" h="4114800">
                <a:moveTo>
                  <a:pt x="0" y="0"/>
                </a:moveTo>
                <a:lnTo>
                  <a:pt x="5405320" y="0"/>
                </a:lnTo>
                <a:lnTo>
                  <a:pt x="5405320" y="4114800"/>
                </a:lnTo>
                <a:lnTo>
                  <a:pt x="0" y="4114800"/>
                </a:lnTo>
                <a:lnTo>
                  <a:pt x="0" y="0"/>
                </a:lnTo>
                <a:close/>
              </a:path>
            </a:pathLst>
          </a:custGeom>
          <a:blipFill>
            <a:blip r:embed="rId2">
              <a:alphaModFix amt="51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3" name="Freeform 3"/>
          <p:cNvSpPr/>
          <p:nvPr/>
        </p:nvSpPr>
        <p:spPr>
          <a:xfrm>
            <a:off x="15128760" y="-1028700"/>
            <a:ext cx="5405320" cy="4114800"/>
          </a:xfrm>
          <a:custGeom>
            <a:avLst/>
            <a:gdLst/>
            <a:ahLst/>
            <a:cxnLst/>
            <a:rect l="l" t="t" r="r" b="b"/>
            <a:pathLst>
              <a:path w="5405320" h="4114800">
                <a:moveTo>
                  <a:pt x="0" y="0"/>
                </a:moveTo>
                <a:lnTo>
                  <a:pt x="5405320" y="0"/>
                </a:lnTo>
                <a:lnTo>
                  <a:pt x="5405320" y="4114800"/>
                </a:lnTo>
                <a:lnTo>
                  <a:pt x="0" y="4114800"/>
                </a:lnTo>
                <a:lnTo>
                  <a:pt x="0" y="0"/>
                </a:lnTo>
                <a:close/>
              </a:path>
            </a:pathLst>
          </a:custGeom>
          <a:blipFill>
            <a:blip r:embed="rId2">
              <a:alphaModFix amt="51000"/>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TextBox 4"/>
          <p:cNvSpPr txBox="1"/>
          <p:nvPr/>
        </p:nvSpPr>
        <p:spPr>
          <a:xfrm>
            <a:off x="1028700" y="3344263"/>
            <a:ext cx="7125414" cy="3417500"/>
          </a:xfrm>
          <a:prstGeom prst="rect">
            <a:avLst/>
          </a:prstGeom>
        </p:spPr>
        <p:txBody>
          <a:bodyPr lIns="0" tIns="0" rIns="0" bIns="0" rtlCol="0" anchor="t">
            <a:spAutoFit/>
          </a:bodyPr>
          <a:lstStyle/>
          <a:p>
            <a:pPr algn="ctr">
              <a:lnSpc>
                <a:spcPts val="13758"/>
              </a:lnSpc>
            </a:pPr>
            <a:r>
              <a:rPr lang="en-US" sz="9827">
                <a:solidFill>
                  <a:srgbClr val="C1BBBB"/>
                </a:solidFill>
                <a:latin typeface="Open Sauce"/>
              </a:rPr>
              <a:t>ABOUT THE GAME</a:t>
            </a:r>
          </a:p>
        </p:txBody>
      </p:sp>
      <p:sp>
        <p:nvSpPr>
          <p:cNvPr id="5" name="TextBox 5"/>
          <p:cNvSpPr txBox="1"/>
          <p:nvPr/>
        </p:nvSpPr>
        <p:spPr>
          <a:xfrm>
            <a:off x="9906000" y="1327194"/>
            <a:ext cx="7125414" cy="7802713"/>
          </a:xfrm>
          <a:prstGeom prst="rect">
            <a:avLst/>
          </a:prstGeom>
        </p:spPr>
        <p:txBody>
          <a:bodyPr lIns="0" tIns="0" rIns="0" bIns="0" rtlCol="0" anchor="t">
            <a:spAutoFit/>
          </a:bodyPr>
          <a:lstStyle/>
          <a:p>
            <a:pPr algn="ctr">
              <a:lnSpc>
                <a:spcPts val="5079"/>
              </a:lnSpc>
            </a:pPr>
            <a:r>
              <a:rPr lang="en-US" sz="4000" b="1" i="0" dirty="0">
                <a:solidFill>
                  <a:srgbClr val="C1BBBB"/>
                </a:solidFill>
                <a:effectLst/>
                <a:latin typeface="Open Sauce" panose="020B0604020202020204" charset="0"/>
              </a:rPr>
              <a:t>Step into the chaos of a relentless apocalypse in this immersive VR zombie survival game. Fight wave after wave of the undead, scavenging for weapons to stay alive. With each wave growing more challenging, your skills and strategy will be tested to their limits. Inspired by the iconic Black Ops Zombie mode.</a:t>
            </a:r>
            <a:endParaRPr lang="en-US" sz="3628" b="1" dirty="0">
              <a:solidFill>
                <a:srgbClr val="C1BBBB"/>
              </a:solidFill>
              <a:latin typeface="Open Sauce" panose="020B0604020202020204" charset="0"/>
            </a:endParaRPr>
          </a:p>
        </p:txBody>
      </p:sp>
    </p:spTree>
  </p:cSld>
  <p:clrMapOvr>
    <a:masterClrMapping/>
  </p:clrMapOvr>
  <p:transition>
    <p:circl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3F403A"/>
        </a:solidFill>
        <a:effectLst/>
      </p:bgPr>
    </p:bg>
    <p:spTree>
      <p:nvGrpSpPr>
        <p:cNvPr id="1" name=""/>
        <p:cNvGrpSpPr/>
        <p:nvPr/>
      </p:nvGrpSpPr>
      <p:grpSpPr>
        <a:xfrm>
          <a:off x="0" y="0"/>
          <a:ext cx="0" cy="0"/>
          <a:chOff x="0" y="0"/>
          <a:chExt cx="0" cy="0"/>
        </a:xfrm>
      </p:grpSpPr>
      <p:sp>
        <p:nvSpPr>
          <p:cNvPr id="2" name="Freeform 2"/>
          <p:cNvSpPr/>
          <p:nvPr/>
        </p:nvSpPr>
        <p:spPr>
          <a:xfrm>
            <a:off x="8763620" y="-115162"/>
            <a:ext cx="12477111" cy="13151105"/>
          </a:xfrm>
          <a:custGeom>
            <a:avLst/>
            <a:gdLst/>
            <a:ahLst/>
            <a:cxnLst/>
            <a:rect l="l" t="t" r="r" b="b"/>
            <a:pathLst>
              <a:path w="12477111" h="13151105">
                <a:moveTo>
                  <a:pt x="0" y="0"/>
                </a:moveTo>
                <a:lnTo>
                  <a:pt x="12477111" y="0"/>
                </a:lnTo>
                <a:lnTo>
                  <a:pt x="12477111" y="13151105"/>
                </a:lnTo>
                <a:lnTo>
                  <a:pt x="0" y="13151105"/>
                </a:lnTo>
                <a:lnTo>
                  <a:pt x="0" y="0"/>
                </a:lnTo>
                <a:close/>
              </a:path>
            </a:pathLst>
          </a:custGeom>
          <a:blipFill>
            <a:blip r:embed="rId2"/>
            <a:stretch>
              <a:fillRect/>
            </a:stretch>
          </a:blipFill>
        </p:spPr>
        <p:txBody>
          <a:bodyPr/>
          <a:lstStyle/>
          <a:p>
            <a:endParaRPr lang="en-IN"/>
          </a:p>
        </p:txBody>
      </p:sp>
      <p:sp>
        <p:nvSpPr>
          <p:cNvPr id="5" name="Freeform 5"/>
          <p:cNvSpPr/>
          <p:nvPr/>
        </p:nvSpPr>
        <p:spPr>
          <a:xfrm>
            <a:off x="-3015925" y="-2834099"/>
            <a:ext cx="9259747" cy="8229600"/>
          </a:xfrm>
          <a:custGeom>
            <a:avLst/>
            <a:gdLst/>
            <a:ahLst/>
            <a:cxnLst/>
            <a:rect l="l" t="t" r="r" b="b"/>
            <a:pathLst>
              <a:path w="9259747" h="8229600">
                <a:moveTo>
                  <a:pt x="0" y="0"/>
                </a:moveTo>
                <a:lnTo>
                  <a:pt x="9259746" y="0"/>
                </a:lnTo>
                <a:lnTo>
                  <a:pt x="9259746" y="8229600"/>
                </a:lnTo>
                <a:lnTo>
                  <a:pt x="0" y="8229600"/>
                </a:lnTo>
                <a:lnTo>
                  <a:pt x="0" y="0"/>
                </a:lnTo>
                <a:close/>
              </a:path>
            </a:pathLst>
          </a:custGeom>
          <a:blipFill>
            <a:blip r:embed="rId3"/>
            <a:stretch>
              <a:fillRect/>
            </a:stretch>
          </a:blipFill>
        </p:spPr>
        <p:txBody>
          <a:bodyPr/>
          <a:lstStyle/>
          <a:p>
            <a:endParaRPr lang="en-IN"/>
          </a:p>
        </p:txBody>
      </p:sp>
      <p:sp>
        <p:nvSpPr>
          <p:cNvPr id="6" name="Freeform 6"/>
          <p:cNvSpPr/>
          <p:nvPr/>
        </p:nvSpPr>
        <p:spPr>
          <a:xfrm>
            <a:off x="10800105" y="-1348999"/>
            <a:ext cx="3453057" cy="3068905"/>
          </a:xfrm>
          <a:custGeom>
            <a:avLst/>
            <a:gdLst/>
            <a:ahLst/>
            <a:cxnLst/>
            <a:rect l="l" t="t" r="r" b="b"/>
            <a:pathLst>
              <a:path w="3453057" h="3068905">
                <a:moveTo>
                  <a:pt x="0" y="0"/>
                </a:moveTo>
                <a:lnTo>
                  <a:pt x="3453058" y="0"/>
                </a:lnTo>
                <a:lnTo>
                  <a:pt x="3453058" y="3068905"/>
                </a:lnTo>
                <a:lnTo>
                  <a:pt x="0" y="3068905"/>
                </a:lnTo>
                <a:lnTo>
                  <a:pt x="0" y="0"/>
                </a:lnTo>
                <a:close/>
              </a:path>
            </a:pathLst>
          </a:custGeom>
          <a:blipFill>
            <a:blip r:embed="rId3"/>
            <a:stretch>
              <a:fillRect/>
            </a:stretch>
          </a:blipFill>
        </p:spPr>
        <p:txBody>
          <a:bodyPr/>
          <a:lstStyle/>
          <a:p>
            <a:endParaRPr lang="en-IN"/>
          </a:p>
        </p:txBody>
      </p:sp>
      <p:sp>
        <p:nvSpPr>
          <p:cNvPr id="7" name="TextBox 7"/>
          <p:cNvSpPr txBox="1"/>
          <p:nvPr/>
        </p:nvSpPr>
        <p:spPr>
          <a:xfrm>
            <a:off x="1613948" y="2400384"/>
            <a:ext cx="7841323" cy="1260475"/>
          </a:xfrm>
          <a:prstGeom prst="rect">
            <a:avLst/>
          </a:prstGeom>
        </p:spPr>
        <p:txBody>
          <a:bodyPr lIns="0" tIns="0" rIns="0" bIns="0" rtlCol="0" anchor="t">
            <a:spAutoFit/>
          </a:bodyPr>
          <a:lstStyle/>
          <a:p>
            <a:pPr>
              <a:lnSpc>
                <a:spcPts val="10999"/>
              </a:lnSpc>
            </a:pPr>
            <a:r>
              <a:rPr lang="en-US" sz="5499" dirty="0">
                <a:solidFill>
                  <a:srgbClr val="EAEAEA"/>
                </a:solidFill>
                <a:latin typeface="Jeepers"/>
              </a:rPr>
              <a:t>Objectives</a:t>
            </a:r>
          </a:p>
        </p:txBody>
      </p:sp>
      <p:sp>
        <p:nvSpPr>
          <p:cNvPr id="8" name="TextBox 8"/>
          <p:cNvSpPr txBox="1"/>
          <p:nvPr/>
        </p:nvSpPr>
        <p:spPr>
          <a:xfrm>
            <a:off x="1613948" y="4134485"/>
            <a:ext cx="8759124" cy="3816942"/>
          </a:xfrm>
          <a:prstGeom prst="rect">
            <a:avLst/>
          </a:prstGeom>
        </p:spPr>
        <p:txBody>
          <a:bodyPr lIns="0" tIns="0" rIns="0" bIns="0" rtlCol="0" anchor="t">
            <a:spAutoFit/>
          </a:bodyPr>
          <a:lstStyle/>
          <a:p>
            <a:pPr>
              <a:lnSpc>
                <a:spcPts val="2998"/>
              </a:lnSpc>
            </a:pPr>
            <a:r>
              <a:rPr lang="en-US" sz="2141" dirty="0">
                <a:solidFill>
                  <a:srgbClr val="EAEAEA"/>
                </a:solidFill>
                <a:latin typeface="Cantora One"/>
              </a:rPr>
              <a:t>Survive as long as possible against relentless waves of zombies. Fight, strategize, and adapt to overcome increasing challenges while upgrading weapons, and unlocking new areas. The longer you last, the greater the rewards—but remember, the undead never stop coming. Your ultimate goal: endure the apocalypse and become humanity's last beacon of hope.</a:t>
            </a:r>
          </a:p>
          <a:p>
            <a:pPr>
              <a:lnSpc>
                <a:spcPts val="2998"/>
              </a:lnSpc>
            </a:pPr>
            <a:endParaRPr lang="en-US" sz="2141" dirty="0">
              <a:solidFill>
                <a:srgbClr val="EAEAEA"/>
              </a:solidFill>
              <a:latin typeface="Cantora One"/>
            </a:endParaRPr>
          </a:p>
          <a:p>
            <a:pPr>
              <a:lnSpc>
                <a:spcPts val="2998"/>
              </a:lnSpc>
            </a:pPr>
            <a:r>
              <a:rPr lang="en-US" sz="2141" dirty="0">
                <a:solidFill>
                  <a:srgbClr val="EAEAEA"/>
                </a:solidFill>
                <a:latin typeface="Cantora One"/>
              </a:rPr>
              <a:t>MAIN OBJECTIVES:</a:t>
            </a:r>
          </a:p>
          <a:p>
            <a:pPr marL="462432" lvl="1" indent="-231216">
              <a:lnSpc>
                <a:spcPts val="2998"/>
              </a:lnSpc>
              <a:buFont typeface="Arial"/>
              <a:buChar char="•"/>
            </a:pPr>
            <a:r>
              <a:rPr lang="en-US" sz="2141" dirty="0">
                <a:solidFill>
                  <a:srgbClr val="EAEAEA"/>
                </a:solidFill>
                <a:latin typeface="Cantora One"/>
              </a:rPr>
              <a:t>PLAYER MOVEMENT AND COMBAT</a:t>
            </a:r>
          </a:p>
          <a:p>
            <a:pPr marL="462432" lvl="1" indent="-231216">
              <a:lnSpc>
                <a:spcPts val="2998"/>
              </a:lnSpc>
              <a:buFont typeface="Arial"/>
              <a:buChar char="•"/>
            </a:pPr>
            <a:r>
              <a:rPr lang="en-US" sz="2141" dirty="0">
                <a:solidFill>
                  <a:srgbClr val="EAEAEA"/>
                </a:solidFill>
                <a:latin typeface="Cantora One"/>
              </a:rPr>
              <a:t>ENEMY AI AND COMBAT</a:t>
            </a:r>
          </a:p>
          <a:p>
            <a:pPr marL="462432" lvl="1" indent="-231216">
              <a:lnSpc>
                <a:spcPts val="2998"/>
              </a:lnSpc>
              <a:buFont typeface="Arial"/>
              <a:buChar char="•"/>
            </a:pPr>
            <a:r>
              <a:rPr lang="en-US" sz="2141" dirty="0">
                <a:solidFill>
                  <a:srgbClr val="EAEAEA"/>
                </a:solidFill>
                <a:latin typeface="Cantora One"/>
              </a:rPr>
              <a:t>WEAPON SYSTEM IMPLEMENTATION</a:t>
            </a:r>
          </a:p>
        </p:txBody>
      </p:sp>
      <p:pic>
        <p:nvPicPr>
          <p:cNvPr id="10" name="Picture 9">
            <a:extLst>
              <a:ext uri="{FF2B5EF4-FFF2-40B4-BE49-F238E27FC236}">
                <a16:creationId xmlns:a16="http://schemas.microsoft.com/office/drawing/2014/main" id="{7F8F2B6D-7F7D-1BB5-FA3B-D1A4E4EC517C}"/>
              </a:ext>
            </a:extLst>
          </p:cNvPr>
          <p:cNvPicPr>
            <a:picLocks noChangeAspect="1"/>
          </p:cNvPicPr>
          <p:nvPr/>
        </p:nvPicPr>
        <p:blipFill>
          <a:blip r:embed="rId4"/>
          <a:stretch>
            <a:fillRect/>
          </a:stretch>
        </p:blipFill>
        <p:spPr>
          <a:xfrm>
            <a:off x="11821327" y="1049461"/>
            <a:ext cx="4047516" cy="8188078"/>
          </a:xfrm>
          <a:prstGeom prst="rect">
            <a:avLst/>
          </a:prstGeom>
          <a:ln>
            <a:noFill/>
          </a:ln>
          <a:effectLst>
            <a:softEdge rad="112500"/>
          </a:effectLst>
        </p:spPr>
      </p:pic>
    </p:spTree>
  </p:cSld>
  <p:clrMapOvr>
    <a:masterClrMapping/>
  </p:clrMapOvr>
  <p:transition spd="med">
    <p:push/>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21210"/>
        </a:solidFill>
        <a:effectLst/>
      </p:bgPr>
    </p:bg>
    <p:spTree>
      <p:nvGrpSpPr>
        <p:cNvPr id="1" name=""/>
        <p:cNvGrpSpPr/>
        <p:nvPr/>
      </p:nvGrpSpPr>
      <p:grpSpPr>
        <a:xfrm>
          <a:off x="0" y="0"/>
          <a:ext cx="0" cy="0"/>
          <a:chOff x="0" y="0"/>
          <a:chExt cx="0" cy="0"/>
        </a:xfrm>
      </p:grpSpPr>
      <p:sp>
        <p:nvSpPr>
          <p:cNvPr id="2" name="Freeform 2"/>
          <p:cNvSpPr/>
          <p:nvPr/>
        </p:nvSpPr>
        <p:spPr>
          <a:xfrm>
            <a:off x="-1519692" y="-1834815"/>
            <a:ext cx="7674102" cy="8229600"/>
          </a:xfrm>
          <a:custGeom>
            <a:avLst/>
            <a:gdLst/>
            <a:ahLst/>
            <a:cxnLst/>
            <a:rect l="l" t="t" r="r" b="b"/>
            <a:pathLst>
              <a:path w="7674102" h="8229600">
                <a:moveTo>
                  <a:pt x="0" y="0"/>
                </a:moveTo>
                <a:lnTo>
                  <a:pt x="7674102" y="0"/>
                </a:lnTo>
                <a:lnTo>
                  <a:pt x="7674102" y="8229600"/>
                </a:lnTo>
                <a:lnTo>
                  <a:pt x="0" y="8229600"/>
                </a:lnTo>
                <a:lnTo>
                  <a:pt x="0" y="0"/>
                </a:lnTo>
                <a:close/>
              </a:path>
            </a:pathLst>
          </a:custGeom>
          <a:blipFill>
            <a:blip r:embed="rId2">
              <a:alphaModFix amt="72000"/>
            </a:blip>
            <a:stretch>
              <a:fillRect/>
            </a:stretch>
          </a:blipFill>
        </p:spPr>
        <p:txBody>
          <a:bodyPr/>
          <a:lstStyle/>
          <a:p>
            <a:endParaRPr lang="en-IN"/>
          </a:p>
        </p:txBody>
      </p:sp>
      <p:sp>
        <p:nvSpPr>
          <p:cNvPr id="3" name="Freeform 3"/>
          <p:cNvSpPr/>
          <p:nvPr/>
        </p:nvSpPr>
        <p:spPr>
          <a:xfrm rot="2378249">
            <a:off x="13678734" y="4858026"/>
            <a:ext cx="5956173" cy="8229600"/>
          </a:xfrm>
          <a:custGeom>
            <a:avLst/>
            <a:gdLst/>
            <a:ahLst/>
            <a:cxnLst/>
            <a:rect l="l" t="t" r="r" b="b"/>
            <a:pathLst>
              <a:path w="5956173" h="8229600">
                <a:moveTo>
                  <a:pt x="0" y="0"/>
                </a:moveTo>
                <a:lnTo>
                  <a:pt x="5956173" y="0"/>
                </a:lnTo>
                <a:lnTo>
                  <a:pt x="5956173" y="8229600"/>
                </a:lnTo>
                <a:lnTo>
                  <a:pt x="0" y="8229600"/>
                </a:lnTo>
                <a:lnTo>
                  <a:pt x="0" y="0"/>
                </a:lnTo>
                <a:close/>
              </a:path>
            </a:pathLst>
          </a:custGeom>
          <a:blipFill>
            <a:blip r:embed="rId3"/>
            <a:stretch>
              <a:fillRect/>
            </a:stretch>
          </a:blipFill>
        </p:spPr>
        <p:txBody>
          <a:bodyPr/>
          <a:lstStyle/>
          <a:p>
            <a:endParaRPr lang="en-IN"/>
          </a:p>
        </p:txBody>
      </p:sp>
      <p:sp>
        <p:nvSpPr>
          <p:cNvPr id="4" name="Freeform 4"/>
          <p:cNvSpPr/>
          <p:nvPr/>
        </p:nvSpPr>
        <p:spPr>
          <a:xfrm rot="-7607764">
            <a:off x="470193" y="123436"/>
            <a:ext cx="1829696" cy="2158933"/>
          </a:xfrm>
          <a:custGeom>
            <a:avLst/>
            <a:gdLst/>
            <a:ahLst/>
            <a:cxnLst/>
            <a:rect l="l" t="t" r="r" b="b"/>
            <a:pathLst>
              <a:path w="1829696" h="2158933">
                <a:moveTo>
                  <a:pt x="0" y="0"/>
                </a:moveTo>
                <a:lnTo>
                  <a:pt x="1829696" y="0"/>
                </a:lnTo>
                <a:lnTo>
                  <a:pt x="1829696" y="2158933"/>
                </a:lnTo>
                <a:lnTo>
                  <a:pt x="0" y="2158933"/>
                </a:lnTo>
                <a:lnTo>
                  <a:pt x="0" y="0"/>
                </a:lnTo>
                <a:close/>
              </a:path>
            </a:pathLst>
          </a:custGeom>
          <a:blipFill>
            <a:blip r:embed="rId4">
              <a:alphaModFix amt="55000"/>
            </a:blip>
            <a:stretch>
              <a:fillRect/>
            </a:stretch>
          </a:blipFill>
        </p:spPr>
        <p:txBody>
          <a:bodyPr/>
          <a:lstStyle/>
          <a:p>
            <a:endParaRPr lang="en-IN"/>
          </a:p>
        </p:txBody>
      </p:sp>
      <p:sp>
        <p:nvSpPr>
          <p:cNvPr id="5" name="Freeform 5"/>
          <p:cNvSpPr/>
          <p:nvPr/>
        </p:nvSpPr>
        <p:spPr>
          <a:xfrm rot="1341647">
            <a:off x="11122506" y="8786664"/>
            <a:ext cx="1473150" cy="1738230"/>
          </a:xfrm>
          <a:custGeom>
            <a:avLst/>
            <a:gdLst/>
            <a:ahLst/>
            <a:cxnLst/>
            <a:rect l="l" t="t" r="r" b="b"/>
            <a:pathLst>
              <a:path w="1473150" h="1738230">
                <a:moveTo>
                  <a:pt x="0" y="0"/>
                </a:moveTo>
                <a:lnTo>
                  <a:pt x="1473149" y="0"/>
                </a:lnTo>
                <a:lnTo>
                  <a:pt x="1473149" y="1738229"/>
                </a:lnTo>
                <a:lnTo>
                  <a:pt x="0" y="1738229"/>
                </a:lnTo>
                <a:lnTo>
                  <a:pt x="0" y="0"/>
                </a:lnTo>
                <a:close/>
              </a:path>
            </a:pathLst>
          </a:custGeom>
          <a:blipFill>
            <a:blip r:embed="rId4">
              <a:alphaModFix amt="55000"/>
            </a:blip>
            <a:stretch>
              <a:fillRect/>
            </a:stretch>
          </a:blipFill>
        </p:spPr>
        <p:txBody>
          <a:bodyPr/>
          <a:lstStyle/>
          <a:p>
            <a:endParaRPr lang="en-IN"/>
          </a:p>
        </p:txBody>
      </p:sp>
      <p:sp>
        <p:nvSpPr>
          <p:cNvPr id="6" name="TextBox 6"/>
          <p:cNvSpPr txBox="1"/>
          <p:nvPr/>
        </p:nvSpPr>
        <p:spPr>
          <a:xfrm>
            <a:off x="4107816" y="184150"/>
            <a:ext cx="10632395" cy="1260475"/>
          </a:xfrm>
          <a:prstGeom prst="rect">
            <a:avLst/>
          </a:prstGeom>
        </p:spPr>
        <p:txBody>
          <a:bodyPr lIns="0" tIns="0" rIns="0" bIns="0" rtlCol="0" anchor="t">
            <a:spAutoFit/>
          </a:bodyPr>
          <a:lstStyle/>
          <a:p>
            <a:pPr algn="ctr">
              <a:lnSpc>
                <a:spcPts val="10999"/>
              </a:lnSpc>
            </a:pPr>
            <a:r>
              <a:rPr lang="en-US" sz="5499" u="sng" dirty="0">
                <a:solidFill>
                  <a:srgbClr val="EAEAEA"/>
                </a:solidFill>
                <a:latin typeface="Jeepers"/>
              </a:rPr>
              <a:t>BLUEPRINTS Created</a:t>
            </a:r>
          </a:p>
        </p:txBody>
      </p:sp>
      <p:pic>
        <p:nvPicPr>
          <p:cNvPr id="28" name="Picture 27">
            <a:extLst>
              <a:ext uri="{FF2B5EF4-FFF2-40B4-BE49-F238E27FC236}">
                <a16:creationId xmlns:a16="http://schemas.microsoft.com/office/drawing/2014/main" id="{02D744A3-BA37-D78A-99B2-A6B1B96202AE}"/>
              </a:ext>
            </a:extLst>
          </p:cNvPr>
          <p:cNvPicPr>
            <a:picLocks noChangeAspect="1"/>
          </p:cNvPicPr>
          <p:nvPr/>
        </p:nvPicPr>
        <p:blipFill>
          <a:blip r:embed="rId5"/>
          <a:stretch>
            <a:fillRect/>
          </a:stretch>
        </p:blipFill>
        <p:spPr>
          <a:xfrm>
            <a:off x="695669" y="1818635"/>
            <a:ext cx="10129807" cy="6477000"/>
          </a:xfrm>
          <a:prstGeom prst="rect">
            <a:avLst/>
          </a:prstGeom>
        </p:spPr>
      </p:pic>
      <p:pic>
        <p:nvPicPr>
          <p:cNvPr id="30" name="Picture 29">
            <a:extLst>
              <a:ext uri="{FF2B5EF4-FFF2-40B4-BE49-F238E27FC236}">
                <a16:creationId xmlns:a16="http://schemas.microsoft.com/office/drawing/2014/main" id="{C9863982-ABE2-8AC8-96F5-67D70EF8F5A3}"/>
              </a:ext>
            </a:extLst>
          </p:cNvPr>
          <p:cNvPicPr>
            <a:picLocks noChangeAspect="1"/>
          </p:cNvPicPr>
          <p:nvPr/>
        </p:nvPicPr>
        <p:blipFill>
          <a:blip r:embed="rId6"/>
          <a:stretch>
            <a:fillRect/>
          </a:stretch>
        </p:blipFill>
        <p:spPr>
          <a:xfrm>
            <a:off x="10972800" y="2017848"/>
            <a:ext cx="7220958" cy="4220164"/>
          </a:xfrm>
          <a:prstGeom prst="rect">
            <a:avLst/>
          </a:prstGeom>
        </p:spPr>
      </p:pic>
    </p:spTree>
  </p:cSld>
  <p:clrMapOvr>
    <a:masterClrMapping/>
  </p:clrMapOvr>
  <p:transition>
    <p:cover dir="rd"/>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4D5E7A"/>
        </a:solidFill>
        <a:effectLst/>
      </p:bgPr>
    </p:bg>
    <p:spTree>
      <p:nvGrpSpPr>
        <p:cNvPr id="1" name=""/>
        <p:cNvGrpSpPr/>
        <p:nvPr/>
      </p:nvGrpSpPr>
      <p:grpSpPr>
        <a:xfrm>
          <a:off x="0" y="0"/>
          <a:ext cx="0" cy="0"/>
          <a:chOff x="0" y="0"/>
          <a:chExt cx="0" cy="0"/>
        </a:xfrm>
      </p:grpSpPr>
      <p:sp>
        <p:nvSpPr>
          <p:cNvPr id="2" name="Freeform 2"/>
          <p:cNvSpPr/>
          <p:nvPr/>
        </p:nvSpPr>
        <p:spPr>
          <a:xfrm rot="-3063119">
            <a:off x="13603915" y="1082121"/>
            <a:ext cx="8656212" cy="8754703"/>
          </a:xfrm>
          <a:custGeom>
            <a:avLst/>
            <a:gdLst/>
            <a:ahLst/>
            <a:cxnLst/>
            <a:rect l="l" t="t" r="r" b="b"/>
            <a:pathLst>
              <a:path w="8656212" h="8754703">
                <a:moveTo>
                  <a:pt x="0" y="0"/>
                </a:moveTo>
                <a:lnTo>
                  <a:pt x="8656213" y="0"/>
                </a:lnTo>
                <a:lnTo>
                  <a:pt x="8656213" y="8754703"/>
                </a:lnTo>
                <a:lnTo>
                  <a:pt x="0" y="8754703"/>
                </a:lnTo>
                <a:lnTo>
                  <a:pt x="0" y="0"/>
                </a:lnTo>
                <a:close/>
              </a:path>
            </a:pathLst>
          </a:custGeom>
          <a:blipFill>
            <a:blip r:embed="rId2"/>
            <a:stretch>
              <a:fillRect/>
            </a:stretch>
          </a:blipFill>
        </p:spPr>
        <p:txBody>
          <a:bodyPr/>
          <a:lstStyle/>
          <a:p>
            <a:endParaRPr lang="en-IN"/>
          </a:p>
        </p:txBody>
      </p:sp>
      <p:sp>
        <p:nvSpPr>
          <p:cNvPr id="3" name="Freeform 3"/>
          <p:cNvSpPr/>
          <p:nvPr/>
        </p:nvSpPr>
        <p:spPr>
          <a:xfrm>
            <a:off x="12976657" y="729625"/>
            <a:ext cx="3119537" cy="3288050"/>
          </a:xfrm>
          <a:custGeom>
            <a:avLst/>
            <a:gdLst/>
            <a:ahLst/>
            <a:cxnLst/>
            <a:rect l="l" t="t" r="r" b="b"/>
            <a:pathLst>
              <a:path w="3119537" h="3288050">
                <a:moveTo>
                  <a:pt x="0" y="0"/>
                </a:moveTo>
                <a:lnTo>
                  <a:pt x="3119537" y="0"/>
                </a:lnTo>
                <a:lnTo>
                  <a:pt x="3119537" y="3288049"/>
                </a:lnTo>
                <a:lnTo>
                  <a:pt x="0" y="3288049"/>
                </a:lnTo>
                <a:lnTo>
                  <a:pt x="0" y="0"/>
                </a:lnTo>
                <a:close/>
              </a:path>
            </a:pathLst>
          </a:custGeom>
          <a:blipFill>
            <a:blip r:embed="rId3"/>
            <a:stretch>
              <a:fillRect/>
            </a:stretch>
          </a:blipFill>
        </p:spPr>
        <p:txBody>
          <a:bodyPr/>
          <a:lstStyle/>
          <a:p>
            <a:endParaRPr lang="en-IN"/>
          </a:p>
        </p:txBody>
      </p:sp>
      <p:sp>
        <p:nvSpPr>
          <p:cNvPr id="4" name="TextBox 4"/>
          <p:cNvSpPr txBox="1"/>
          <p:nvPr/>
        </p:nvSpPr>
        <p:spPr>
          <a:xfrm>
            <a:off x="1417923" y="1878350"/>
            <a:ext cx="12642926" cy="1464311"/>
          </a:xfrm>
          <a:prstGeom prst="rect">
            <a:avLst/>
          </a:prstGeom>
        </p:spPr>
        <p:txBody>
          <a:bodyPr lIns="0" tIns="0" rIns="0" bIns="0" rtlCol="0" anchor="t">
            <a:spAutoFit/>
          </a:bodyPr>
          <a:lstStyle/>
          <a:p>
            <a:pPr>
              <a:lnSpc>
                <a:spcPts val="12799"/>
              </a:lnSpc>
            </a:pPr>
            <a:r>
              <a:rPr lang="en-US" sz="6399">
                <a:solidFill>
                  <a:srgbClr val="FFFFFF"/>
                </a:solidFill>
                <a:latin typeface="Jeepers"/>
              </a:rPr>
              <a:t>FEATURES</a:t>
            </a:r>
          </a:p>
        </p:txBody>
      </p:sp>
      <p:sp>
        <p:nvSpPr>
          <p:cNvPr id="5" name="TextBox 5"/>
          <p:cNvSpPr txBox="1"/>
          <p:nvPr/>
        </p:nvSpPr>
        <p:spPr>
          <a:xfrm>
            <a:off x="1304277" y="3808124"/>
            <a:ext cx="16627745" cy="4757969"/>
          </a:xfrm>
          <a:prstGeom prst="rect">
            <a:avLst/>
          </a:prstGeom>
        </p:spPr>
        <p:txBody>
          <a:bodyPr lIns="0" tIns="0" rIns="0" bIns="0" rtlCol="0" anchor="t">
            <a:spAutoFit/>
          </a:bodyPr>
          <a:lstStyle/>
          <a:p>
            <a:pPr marL="750450" lvl="1" indent="-457200">
              <a:lnSpc>
                <a:spcPts val="5433"/>
              </a:lnSpc>
              <a:buFont typeface="Arial" panose="020B0604020202020204" pitchFamily="34" charset="0"/>
              <a:buChar char="•"/>
            </a:pPr>
            <a:r>
              <a:rPr lang="en-US" sz="2716" spc="660" dirty="0">
                <a:solidFill>
                  <a:srgbClr val="FFFFFF"/>
                </a:solidFill>
                <a:latin typeface="TT Commons Pro"/>
              </a:rPr>
              <a:t>Wave Spawning after a fixed interval of time.</a:t>
            </a:r>
          </a:p>
          <a:p>
            <a:pPr marL="586500" lvl="1" indent="-293250">
              <a:lnSpc>
                <a:spcPts val="5433"/>
              </a:lnSpc>
              <a:buFont typeface="Arial"/>
              <a:buChar char="•"/>
            </a:pPr>
            <a:r>
              <a:rPr lang="en-US" sz="2716" spc="660" dirty="0">
                <a:solidFill>
                  <a:srgbClr val="FFFFFF"/>
                </a:solidFill>
                <a:latin typeface="TT Commons Pro"/>
              </a:rPr>
              <a:t>Player Movement and Enemies State System.</a:t>
            </a:r>
          </a:p>
          <a:p>
            <a:pPr marL="586500" lvl="1" indent="-293250">
              <a:lnSpc>
                <a:spcPts val="5433"/>
              </a:lnSpc>
              <a:buFont typeface="Arial"/>
              <a:buChar char="•"/>
            </a:pPr>
            <a:r>
              <a:rPr lang="en-US" sz="2716" spc="660" dirty="0">
                <a:solidFill>
                  <a:srgbClr val="FFFFFF"/>
                </a:solidFill>
                <a:latin typeface="TT Commons Pro"/>
              </a:rPr>
              <a:t>Weapon System implementation.</a:t>
            </a:r>
          </a:p>
          <a:p>
            <a:pPr marL="586500" lvl="1" indent="-293250">
              <a:lnSpc>
                <a:spcPts val="5433"/>
              </a:lnSpc>
              <a:buFont typeface="Arial"/>
              <a:buChar char="•"/>
            </a:pPr>
            <a:r>
              <a:rPr lang="en-US" sz="2716" spc="660" dirty="0">
                <a:solidFill>
                  <a:srgbClr val="FFFFFF"/>
                </a:solidFill>
                <a:latin typeface="TT Commons Pro"/>
              </a:rPr>
              <a:t>Enemy AI Implementation.</a:t>
            </a:r>
          </a:p>
          <a:p>
            <a:pPr marL="586500" lvl="1" indent="-293250">
              <a:lnSpc>
                <a:spcPts val="5433"/>
              </a:lnSpc>
              <a:buFont typeface="Arial"/>
              <a:buChar char="•"/>
            </a:pPr>
            <a:r>
              <a:rPr lang="en-US" sz="2716" spc="660" dirty="0">
                <a:solidFill>
                  <a:srgbClr val="FFFFFF"/>
                </a:solidFill>
                <a:latin typeface="TT Commons Pro"/>
              </a:rPr>
              <a:t>Climbing Feature Implemented.</a:t>
            </a:r>
          </a:p>
          <a:p>
            <a:pPr marL="586500" lvl="1" indent="-293250">
              <a:lnSpc>
                <a:spcPts val="5433"/>
              </a:lnSpc>
              <a:buFont typeface="Arial"/>
              <a:buChar char="•"/>
            </a:pPr>
            <a:r>
              <a:rPr lang="en-US" sz="2716" spc="660" dirty="0">
                <a:solidFill>
                  <a:srgbClr val="FFFFFF"/>
                </a:solidFill>
                <a:latin typeface="TT Commons Pro"/>
              </a:rPr>
              <a:t>Drag and drop objective box.</a:t>
            </a:r>
          </a:p>
          <a:p>
            <a:pPr marL="586500" lvl="1" indent="-293250">
              <a:lnSpc>
                <a:spcPts val="5433"/>
              </a:lnSpc>
              <a:buFont typeface="Arial"/>
              <a:buChar char="•"/>
            </a:pPr>
            <a:r>
              <a:rPr lang="en-US" sz="2716" spc="660" dirty="0">
                <a:solidFill>
                  <a:srgbClr val="FFFFFF"/>
                </a:solidFill>
                <a:latin typeface="TT Commons Pro"/>
              </a:rPr>
              <a:t>Audio And Visual </a:t>
            </a: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A4950C"/>
        </a:solidFill>
        <a:effectLst/>
      </p:bgPr>
    </p:bg>
    <p:spTree>
      <p:nvGrpSpPr>
        <p:cNvPr id="1" name=""/>
        <p:cNvGrpSpPr/>
        <p:nvPr/>
      </p:nvGrpSpPr>
      <p:grpSpPr>
        <a:xfrm>
          <a:off x="0" y="0"/>
          <a:ext cx="0" cy="0"/>
          <a:chOff x="0" y="0"/>
          <a:chExt cx="0" cy="0"/>
        </a:xfrm>
      </p:grpSpPr>
      <p:sp>
        <p:nvSpPr>
          <p:cNvPr id="2" name="Freeform 2"/>
          <p:cNvSpPr/>
          <p:nvPr/>
        </p:nvSpPr>
        <p:spPr>
          <a:xfrm>
            <a:off x="12908228" y="5266624"/>
            <a:ext cx="7303770" cy="8229600"/>
          </a:xfrm>
          <a:custGeom>
            <a:avLst/>
            <a:gdLst/>
            <a:ahLst/>
            <a:cxnLst/>
            <a:rect l="l" t="t" r="r" b="b"/>
            <a:pathLst>
              <a:path w="7303770" h="8229600">
                <a:moveTo>
                  <a:pt x="0" y="0"/>
                </a:moveTo>
                <a:lnTo>
                  <a:pt x="7303770" y="0"/>
                </a:lnTo>
                <a:lnTo>
                  <a:pt x="7303770" y="8229600"/>
                </a:lnTo>
                <a:lnTo>
                  <a:pt x="0" y="8229600"/>
                </a:lnTo>
                <a:lnTo>
                  <a:pt x="0" y="0"/>
                </a:lnTo>
                <a:close/>
              </a:path>
            </a:pathLst>
          </a:custGeom>
          <a:blipFill>
            <a:blip r:embed="rId2"/>
            <a:stretch>
              <a:fillRect/>
            </a:stretch>
          </a:blipFill>
        </p:spPr>
        <p:txBody>
          <a:bodyPr/>
          <a:lstStyle/>
          <a:p>
            <a:endParaRPr lang="en-IN"/>
          </a:p>
        </p:txBody>
      </p:sp>
      <p:sp>
        <p:nvSpPr>
          <p:cNvPr id="3" name="Freeform 3"/>
          <p:cNvSpPr/>
          <p:nvPr/>
        </p:nvSpPr>
        <p:spPr>
          <a:xfrm>
            <a:off x="-1369019" y="-1969536"/>
            <a:ext cx="9568387" cy="12800517"/>
          </a:xfrm>
          <a:custGeom>
            <a:avLst/>
            <a:gdLst/>
            <a:ahLst/>
            <a:cxnLst/>
            <a:rect l="l" t="t" r="r" b="b"/>
            <a:pathLst>
              <a:path w="9568387" h="12800517">
                <a:moveTo>
                  <a:pt x="0" y="0"/>
                </a:moveTo>
                <a:lnTo>
                  <a:pt x="9568387" y="0"/>
                </a:lnTo>
                <a:lnTo>
                  <a:pt x="9568387" y="12800517"/>
                </a:lnTo>
                <a:lnTo>
                  <a:pt x="0" y="12800517"/>
                </a:lnTo>
                <a:lnTo>
                  <a:pt x="0" y="0"/>
                </a:lnTo>
                <a:close/>
              </a:path>
            </a:pathLst>
          </a:custGeom>
          <a:blipFill>
            <a:blip r:embed="rId3"/>
            <a:stretch>
              <a:fillRect/>
            </a:stretch>
          </a:blipFill>
        </p:spPr>
        <p:txBody>
          <a:bodyPr/>
          <a:lstStyle/>
          <a:p>
            <a:endParaRPr lang="en-IN"/>
          </a:p>
        </p:txBody>
      </p:sp>
      <p:sp>
        <p:nvSpPr>
          <p:cNvPr id="5" name="TextBox 5"/>
          <p:cNvSpPr txBox="1"/>
          <p:nvPr/>
        </p:nvSpPr>
        <p:spPr>
          <a:xfrm>
            <a:off x="3223270" y="470241"/>
            <a:ext cx="11841461" cy="1654299"/>
          </a:xfrm>
          <a:prstGeom prst="rect">
            <a:avLst/>
          </a:prstGeom>
        </p:spPr>
        <p:txBody>
          <a:bodyPr lIns="0" tIns="0" rIns="0" bIns="0" rtlCol="0" anchor="t">
            <a:spAutoFit/>
          </a:bodyPr>
          <a:lstStyle/>
          <a:p>
            <a:pPr algn="ctr">
              <a:lnSpc>
                <a:spcPts val="12880"/>
              </a:lnSpc>
            </a:pPr>
            <a:r>
              <a:rPr lang="en-US" sz="8800" dirty="0">
                <a:solidFill>
                  <a:srgbClr val="FFFFFF"/>
                </a:solidFill>
                <a:latin typeface="Butcherman Caps"/>
              </a:rPr>
              <a:t>STATE MACHINE CHART</a:t>
            </a:r>
          </a:p>
        </p:txBody>
      </p:sp>
      <p:pic>
        <p:nvPicPr>
          <p:cNvPr id="7" name="Picture 6">
            <a:extLst>
              <a:ext uri="{FF2B5EF4-FFF2-40B4-BE49-F238E27FC236}">
                <a16:creationId xmlns:a16="http://schemas.microsoft.com/office/drawing/2014/main" id="{BBABEF45-7724-B665-2C85-86014A82403F}"/>
              </a:ext>
            </a:extLst>
          </p:cNvPr>
          <p:cNvPicPr>
            <a:picLocks noChangeAspect="1"/>
          </p:cNvPicPr>
          <p:nvPr/>
        </p:nvPicPr>
        <p:blipFill>
          <a:blip r:embed="rId4"/>
          <a:stretch>
            <a:fillRect/>
          </a:stretch>
        </p:blipFill>
        <p:spPr>
          <a:xfrm>
            <a:off x="3790203" y="2395154"/>
            <a:ext cx="10707594" cy="5496692"/>
          </a:xfrm>
          <a:prstGeom prst="rect">
            <a:avLst/>
          </a:prstGeom>
        </p:spPr>
      </p:pic>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908228" y="5266624"/>
            <a:ext cx="7303770" cy="8229600"/>
          </a:xfrm>
          <a:custGeom>
            <a:avLst/>
            <a:gdLst/>
            <a:ahLst/>
            <a:cxnLst/>
            <a:rect l="l" t="t" r="r" b="b"/>
            <a:pathLst>
              <a:path w="7303770" h="8229600">
                <a:moveTo>
                  <a:pt x="0" y="0"/>
                </a:moveTo>
                <a:lnTo>
                  <a:pt x="7303770" y="0"/>
                </a:lnTo>
                <a:lnTo>
                  <a:pt x="7303770" y="8229600"/>
                </a:lnTo>
                <a:lnTo>
                  <a:pt x="0" y="8229600"/>
                </a:lnTo>
                <a:lnTo>
                  <a:pt x="0" y="0"/>
                </a:lnTo>
                <a:close/>
              </a:path>
            </a:pathLst>
          </a:custGeom>
          <a:blipFill>
            <a:blip r:embed="rId2"/>
            <a:stretch>
              <a:fillRect/>
            </a:stretch>
          </a:blipFill>
        </p:spPr>
        <p:txBody>
          <a:bodyPr/>
          <a:lstStyle/>
          <a:p>
            <a:endParaRPr lang="en-IN"/>
          </a:p>
        </p:txBody>
      </p:sp>
      <p:sp>
        <p:nvSpPr>
          <p:cNvPr id="3" name="Freeform 3"/>
          <p:cNvSpPr/>
          <p:nvPr/>
        </p:nvSpPr>
        <p:spPr>
          <a:xfrm>
            <a:off x="-1369019" y="-1969536"/>
            <a:ext cx="9568387" cy="12800517"/>
          </a:xfrm>
          <a:custGeom>
            <a:avLst/>
            <a:gdLst/>
            <a:ahLst/>
            <a:cxnLst/>
            <a:rect l="l" t="t" r="r" b="b"/>
            <a:pathLst>
              <a:path w="9568387" h="12800517">
                <a:moveTo>
                  <a:pt x="0" y="0"/>
                </a:moveTo>
                <a:lnTo>
                  <a:pt x="9568387" y="0"/>
                </a:lnTo>
                <a:lnTo>
                  <a:pt x="9568387" y="12800517"/>
                </a:lnTo>
                <a:lnTo>
                  <a:pt x="0" y="12800517"/>
                </a:lnTo>
                <a:lnTo>
                  <a:pt x="0" y="0"/>
                </a:lnTo>
                <a:close/>
              </a:path>
            </a:pathLst>
          </a:custGeom>
          <a:blipFill>
            <a:blip r:embed="rId3"/>
            <a:stretch>
              <a:fillRect/>
            </a:stretch>
          </a:blipFill>
        </p:spPr>
        <p:txBody>
          <a:bodyPr/>
          <a:lstStyle/>
          <a:p>
            <a:endParaRPr lang="en-IN"/>
          </a:p>
        </p:txBody>
      </p:sp>
      <p:sp>
        <p:nvSpPr>
          <p:cNvPr id="5" name="TextBox 5"/>
          <p:cNvSpPr txBox="1"/>
          <p:nvPr/>
        </p:nvSpPr>
        <p:spPr>
          <a:xfrm>
            <a:off x="3223270" y="470241"/>
            <a:ext cx="11841461" cy="1654299"/>
          </a:xfrm>
          <a:prstGeom prst="rect">
            <a:avLst/>
          </a:prstGeom>
        </p:spPr>
        <p:txBody>
          <a:bodyPr lIns="0" tIns="0" rIns="0" bIns="0" rtlCol="0" anchor="t">
            <a:spAutoFit/>
          </a:bodyPr>
          <a:lstStyle/>
          <a:p>
            <a:pPr algn="ctr">
              <a:lnSpc>
                <a:spcPts val="12880"/>
              </a:lnSpc>
            </a:pPr>
            <a:r>
              <a:rPr lang="en-US" sz="8800" dirty="0">
                <a:solidFill>
                  <a:srgbClr val="FF0000"/>
                </a:solidFill>
                <a:latin typeface="Butcherman Caps"/>
              </a:rPr>
              <a:t>Blend  ANIMATIONS</a:t>
            </a:r>
          </a:p>
        </p:txBody>
      </p:sp>
      <p:pic>
        <p:nvPicPr>
          <p:cNvPr id="6" name="Picture 5">
            <a:extLst>
              <a:ext uri="{FF2B5EF4-FFF2-40B4-BE49-F238E27FC236}">
                <a16:creationId xmlns:a16="http://schemas.microsoft.com/office/drawing/2014/main" id="{A0415125-D1A8-AF33-3FE3-F9CD467C36CA}"/>
              </a:ext>
            </a:extLst>
          </p:cNvPr>
          <p:cNvPicPr>
            <a:picLocks noChangeAspect="1"/>
          </p:cNvPicPr>
          <p:nvPr/>
        </p:nvPicPr>
        <p:blipFill>
          <a:blip r:embed="rId4"/>
          <a:stretch>
            <a:fillRect/>
          </a:stretch>
        </p:blipFill>
        <p:spPr>
          <a:xfrm>
            <a:off x="3733800" y="2628900"/>
            <a:ext cx="10688542" cy="6401693"/>
          </a:xfrm>
          <a:prstGeom prst="rect">
            <a:avLst/>
          </a:prstGeom>
        </p:spPr>
      </p:pic>
    </p:spTree>
    <p:extLst>
      <p:ext uri="{BB962C8B-B14F-4D97-AF65-F5344CB8AC3E}">
        <p14:creationId xmlns:p14="http://schemas.microsoft.com/office/powerpoint/2010/main" val="954433534"/>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908228" y="5266624"/>
            <a:ext cx="7303770" cy="8229600"/>
          </a:xfrm>
          <a:custGeom>
            <a:avLst/>
            <a:gdLst/>
            <a:ahLst/>
            <a:cxnLst/>
            <a:rect l="l" t="t" r="r" b="b"/>
            <a:pathLst>
              <a:path w="7303770" h="8229600">
                <a:moveTo>
                  <a:pt x="0" y="0"/>
                </a:moveTo>
                <a:lnTo>
                  <a:pt x="7303770" y="0"/>
                </a:lnTo>
                <a:lnTo>
                  <a:pt x="7303770" y="8229600"/>
                </a:lnTo>
                <a:lnTo>
                  <a:pt x="0" y="8229600"/>
                </a:lnTo>
                <a:lnTo>
                  <a:pt x="0" y="0"/>
                </a:lnTo>
                <a:close/>
              </a:path>
            </a:pathLst>
          </a:custGeom>
          <a:blipFill>
            <a:blip r:embed="rId2"/>
            <a:stretch>
              <a:fillRect/>
            </a:stretch>
          </a:blipFill>
        </p:spPr>
        <p:txBody>
          <a:bodyPr/>
          <a:lstStyle/>
          <a:p>
            <a:endParaRPr lang="en-IN"/>
          </a:p>
        </p:txBody>
      </p:sp>
      <p:sp>
        <p:nvSpPr>
          <p:cNvPr id="3" name="Freeform 3"/>
          <p:cNvSpPr/>
          <p:nvPr/>
        </p:nvSpPr>
        <p:spPr>
          <a:xfrm>
            <a:off x="-1369019" y="-1969536"/>
            <a:ext cx="9568387" cy="12800517"/>
          </a:xfrm>
          <a:custGeom>
            <a:avLst/>
            <a:gdLst/>
            <a:ahLst/>
            <a:cxnLst/>
            <a:rect l="l" t="t" r="r" b="b"/>
            <a:pathLst>
              <a:path w="9568387" h="12800517">
                <a:moveTo>
                  <a:pt x="0" y="0"/>
                </a:moveTo>
                <a:lnTo>
                  <a:pt x="9568387" y="0"/>
                </a:lnTo>
                <a:lnTo>
                  <a:pt x="9568387" y="12800517"/>
                </a:lnTo>
                <a:lnTo>
                  <a:pt x="0" y="12800517"/>
                </a:lnTo>
                <a:lnTo>
                  <a:pt x="0" y="0"/>
                </a:lnTo>
                <a:close/>
              </a:path>
            </a:pathLst>
          </a:custGeom>
          <a:blipFill>
            <a:blip r:embed="rId3"/>
            <a:stretch>
              <a:fillRect/>
            </a:stretch>
          </a:blipFill>
        </p:spPr>
        <p:txBody>
          <a:bodyPr/>
          <a:lstStyle/>
          <a:p>
            <a:endParaRPr lang="en-IN"/>
          </a:p>
        </p:txBody>
      </p:sp>
      <p:sp>
        <p:nvSpPr>
          <p:cNvPr id="5" name="TextBox 5"/>
          <p:cNvSpPr txBox="1"/>
          <p:nvPr/>
        </p:nvSpPr>
        <p:spPr>
          <a:xfrm>
            <a:off x="304800" y="470241"/>
            <a:ext cx="17830800" cy="1654299"/>
          </a:xfrm>
          <a:prstGeom prst="rect">
            <a:avLst/>
          </a:prstGeom>
        </p:spPr>
        <p:txBody>
          <a:bodyPr wrap="square" lIns="0" tIns="0" rIns="0" bIns="0" rtlCol="0" anchor="t">
            <a:spAutoFit/>
          </a:bodyPr>
          <a:lstStyle/>
          <a:p>
            <a:pPr algn="ctr">
              <a:lnSpc>
                <a:spcPts val="12880"/>
              </a:lnSpc>
            </a:pPr>
            <a:r>
              <a:rPr lang="en-US" sz="8000" dirty="0">
                <a:solidFill>
                  <a:srgbClr val="FF0000"/>
                </a:solidFill>
                <a:latin typeface="Butcherman Caps"/>
              </a:rPr>
              <a:t>BLEND  Animation   Chart</a:t>
            </a:r>
          </a:p>
        </p:txBody>
      </p:sp>
      <p:pic>
        <p:nvPicPr>
          <p:cNvPr id="7" name="Picture 6">
            <a:extLst>
              <a:ext uri="{FF2B5EF4-FFF2-40B4-BE49-F238E27FC236}">
                <a16:creationId xmlns:a16="http://schemas.microsoft.com/office/drawing/2014/main" id="{3F627BF9-FB7E-B943-F70D-64511908FC00}"/>
              </a:ext>
            </a:extLst>
          </p:cNvPr>
          <p:cNvPicPr>
            <a:picLocks noChangeAspect="1"/>
          </p:cNvPicPr>
          <p:nvPr/>
        </p:nvPicPr>
        <p:blipFill>
          <a:blip r:embed="rId4"/>
          <a:stretch>
            <a:fillRect/>
          </a:stretch>
        </p:blipFill>
        <p:spPr>
          <a:xfrm>
            <a:off x="4495800" y="2124540"/>
            <a:ext cx="9628597" cy="7200900"/>
          </a:xfrm>
          <a:prstGeom prst="rect">
            <a:avLst/>
          </a:prstGeom>
        </p:spPr>
      </p:pic>
    </p:spTree>
    <p:extLst>
      <p:ext uri="{BB962C8B-B14F-4D97-AF65-F5344CB8AC3E}">
        <p14:creationId xmlns:p14="http://schemas.microsoft.com/office/powerpoint/2010/main" val="1586446533"/>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3F403A"/>
        </a:solidFill>
        <a:effectLst/>
      </p:bgPr>
    </p:bg>
    <p:spTree>
      <p:nvGrpSpPr>
        <p:cNvPr id="1" name=""/>
        <p:cNvGrpSpPr/>
        <p:nvPr/>
      </p:nvGrpSpPr>
      <p:grpSpPr>
        <a:xfrm>
          <a:off x="0" y="0"/>
          <a:ext cx="0" cy="0"/>
          <a:chOff x="0" y="0"/>
          <a:chExt cx="0" cy="0"/>
        </a:xfrm>
      </p:grpSpPr>
      <p:sp>
        <p:nvSpPr>
          <p:cNvPr id="2" name="Freeform 2"/>
          <p:cNvSpPr/>
          <p:nvPr/>
        </p:nvSpPr>
        <p:spPr>
          <a:xfrm>
            <a:off x="12908228" y="5266624"/>
            <a:ext cx="7303770" cy="8229600"/>
          </a:xfrm>
          <a:custGeom>
            <a:avLst/>
            <a:gdLst/>
            <a:ahLst/>
            <a:cxnLst/>
            <a:rect l="l" t="t" r="r" b="b"/>
            <a:pathLst>
              <a:path w="7303770" h="8229600">
                <a:moveTo>
                  <a:pt x="0" y="0"/>
                </a:moveTo>
                <a:lnTo>
                  <a:pt x="7303770" y="0"/>
                </a:lnTo>
                <a:lnTo>
                  <a:pt x="7303770" y="8229600"/>
                </a:lnTo>
                <a:lnTo>
                  <a:pt x="0" y="8229600"/>
                </a:lnTo>
                <a:lnTo>
                  <a:pt x="0" y="0"/>
                </a:lnTo>
                <a:close/>
              </a:path>
            </a:pathLst>
          </a:custGeom>
          <a:blipFill>
            <a:blip r:embed="rId2"/>
            <a:stretch>
              <a:fillRect/>
            </a:stretch>
          </a:blipFill>
        </p:spPr>
        <p:txBody>
          <a:bodyPr/>
          <a:lstStyle/>
          <a:p>
            <a:endParaRPr lang="en-IN"/>
          </a:p>
        </p:txBody>
      </p:sp>
      <p:sp>
        <p:nvSpPr>
          <p:cNvPr id="3" name="Freeform 3"/>
          <p:cNvSpPr/>
          <p:nvPr/>
        </p:nvSpPr>
        <p:spPr>
          <a:xfrm>
            <a:off x="-1369019" y="-1969536"/>
            <a:ext cx="9568387" cy="12800517"/>
          </a:xfrm>
          <a:custGeom>
            <a:avLst/>
            <a:gdLst/>
            <a:ahLst/>
            <a:cxnLst/>
            <a:rect l="l" t="t" r="r" b="b"/>
            <a:pathLst>
              <a:path w="9568387" h="12800517">
                <a:moveTo>
                  <a:pt x="0" y="0"/>
                </a:moveTo>
                <a:lnTo>
                  <a:pt x="9568387" y="0"/>
                </a:lnTo>
                <a:lnTo>
                  <a:pt x="9568387" y="12800517"/>
                </a:lnTo>
                <a:lnTo>
                  <a:pt x="0" y="12800517"/>
                </a:lnTo>
                <a:lnTo>
                  <a:pt x="0" y="0"/>
                </a:lnTo>
                <a:close/>
              </a:path>
            </a:pathLst>
          </a:custGeom>
          <a:blipFill>
            <a:blip r:embed="rId3"/>
            <a:stretch>
              <a:fillRect/>
            </a:stretch>
          </a:blipFill>
        </p:spPr>
        <p:txBody>
          <a:bodyPr/>
          <a:lstStyle/>
          <a:p>
            <a:endParaRPr lang="en-IN"/>
          </a:p>
        </p:txBody>
      </p:sp>
      <p:sp>
        <p:nvSpPr>
          <p:cNvPr id="5" name="TextBox 5"/>
          <p:cNvSpPr txBox="1"/>
          <p:nvPr/>
        </p:nvSpPr>
        <p:spPr>
          <a:xfrm>
            <a:off x="6679952" y="460716"/>
            <a:ext cx="4928096" cy="1576069"/>
          </a:xfrm>
          <a:prstGeom prst="rect">
            <a:avLst/>
          </a:prstGeom>
        </p:spPr>
        <p:txBody>
          <a:bodyPr lIns="0" tIns="0" rIns="0" bIns="0" rtlCol="0" anchor="t">
            <a:spAutoFit/>
          </a:bodyPr>
          <a:lstStyle/>
          <a:p>
            <a:pPr algn="ctr">
              <a:lnSpc>
                <a:spcPts val="12880"/>
              </a:lnSpc>
            </a:pPr>
            <a:r>
              <a:rPr lang="en-US" sz="9200">
                <a:solidFill>
                  <a:srgbClr val="EAEAEA"/>
                </a:solidFill>
                <a:latin typeface="Jeepers"/>
              </a:rPr>
              <a:t>Main Menu</a:t>
            </a:r>
          </a:p>
        </p:txBody>
      </p:sp>
      <p:pic>
        <p:nvPicPr>
          <p:cNvPr id="7" name="Picture 6">
            <a:extLst>
              <a:ext uri="{FF2B5EF4-FFF2-40B4-BE49-F238E27FC236}">
                <a16:creationId xmlns:a16="http://schemas.microsoft.com/office/drawing/2014/main" id="{BF90771C-22D4-C46F-D95B-913395BD70CF}"/>
              </a:ext>
            </a:extLst>
          </p:cNvPr>
          <p:cNvPicPr>
            <a:picLocks noChangeAspect="1"/>
          </p:cNvPicPr>
          <p:nvPr/>
        </p:nvPicPr>
        <p:blipFill>
          <a:blip r:embed="rId4"/>
          <a:stretch>
            <a:fillRect/>
          </a:stretch>
        </p:blipFill>
        <p:spPr>
          <a:xfrm>
            <a:off x="4038600" y="2247900"/>
            <a:ext cx="9357134" cy="6710969"/>
          </a:xfrm>
          <a:prstGeom prst="rect">
            <a:avLst/>
          </a:prstGeom>
        </p:spPr>
      </p:pic>
    </p:spTree>
  </p:cSld>
  <p:clrMapOvr>
    <a:masterClrMapping/>
  </p:clrMapOvr>
  <p:transition>
    <p:cover dir="rd"/>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92A24"/>
        </a:solidFill>
        <a:effectLst/>
      </p:bgPr>
    </p:bg>
    <p:spTree>
      <p:nvGrpSpPr>
        <p:cNvPr id="1" name=""/>
        <p:cNvGrpSpPr/>
        <p:nvPr/>
      </p:nvGrpSpPr>
      <p:grpSpPr>
        <a:xfrm>
          <a:off x="0" y="0"/>
          <a:ext cx="0" cy="0"/>
          <a:chOff x="0" y="0"/>
          <a:chExt cx="0" cy="0"/>
        </a:xfrm>
      </p:grpSpPr>
      <p:sp>
        <p:nvSpPr>
          <p:cNvPr id="2" name="Freeform 2"/>
          <p:cNvSpPr/>
          <p:nvPr/>
        </p:nvSpPr>
        <p:spPr>
          <a:xfrm>
            <a:off x="13030200" y="5281076"/>
            <a:ext cx="7303770" cy="8229600"/>
          </a:xfrm>
          <a:custGeom>
            <a:avLst/>
            <a:gdLst/>
            <a:ahLst/>
            <a:cxnLst/>
            <a:rect l="l" t="t" r="r" b="b"/>
            <a:pathLst>
              <a:path w="7303770" h="8229600">
                <a:moveTo>
                  <a:pt x="0" y="0"/>
                </a:moveTo>
                <a:lnTo>
                  <a:pt x="7303770" y="0"/>
                </a:lnTo>
                <a:lnTo>
                  <a:pt x="7303770" y="8229600"/>
                </a:lnTo>
                <a:lnTo>
                  <a:pt x="0" y="8229600"/>
                </a:lnTo>
                <a:lnTo>
                  <a:pt x="0" y="0"/>
                </a:lnTo>
                <a:close/>
              </a:path>
            </a:pathLst>
          </a:custGeom>
          <a:blipFill>
            <a:blip r:embed="rId2"/>
            <a:stretch>
              <a:fillRect/>
            </a:stretch>
          </a:blipFill>
        </p:spPr>
        <p:txBody>
          <a:bodyPr/>
          <a:lstStyle/>
          <a:p>
            <a:endParaRPr lang="en-IN"/>
          </a:p>
        </p:txBody>
      </p:sp>
      <p:sp>
        <p:nvSpPr>
          <p:cNvPr id="3" name="Freeform 3"/>
          <p:cNvSpPr/>
          <p:nvPr/>
        </p:nvSpPr>
        <p:spPr>
          <a:xfrm>
            <a:off x="-1369019" y="-1969536"/>
            <a:ext cx="9568387" cy="12800517"/>
          </a:xfrm>
          <a:custGeom>
            <a:avLst/>
            <a:gdLst/>
            <a:ahLst/>
            <a:cxnLst/>
            <a:rect l="l" t="t" r="r" b="b"/>
            <a:pathLst>
              <a:path w="9568387" h="12800517">
                <a:moveTo>
                  <a:pt x="0" y="0"/>
                </a:moveTo>
                <a:lnTo>
                  <a:pt x="9568387" y="0"/>
                </a:lnTo>
                <a:lnTo>
                  <a:pt x="9568387" y="12800517"/>
                </a:lnTo>
                <a:lnTo>
                  <a:pt x="0" y="12800517"/>
                </a:lnTo>
                <a:lnTo>
                  <a:pt x="0" y="0"/>
                </a:lnTo>
                <a:close/>
              </a:path>
            </a:pathLst>
          </a:custGeom>
          <a:blipFill>
            <a:blip r:embed="rId3"/>
            <a:stretch>
              <a:fillRect/>
            </a:stretch>
          </a:blipFill>
        </p:spPr>
        <p:txBody>
          <a:bodyPr/>
          <a:lstStyle/>
          <a:p>
            <a:endParaRPr lang="en-IN"/>
          </a:p>
        </p:txBody>
      </p:sp>
      <p:sp>
        <p:nvSpPr>
          <p:cNvPr id="6" name="TextBox 6"/>
          <p:cNvSpPr txBox="1"/>
          <p:nvPr/>
        </p:nvSpPr>
        <p:spPr>
          <a:xfrm>
            <a:off x="7367439" y="460716"/>
            <a:ext cx="3553123" cy="1493037"/>
          </a:xfrm>
          <a:prstGeom prst="rect">
            <a:avLst/>
          </a:prstGeom>
        </p:spPr>
        <p:txBody>
          <a:bodyPr lIns="0" tIns="0" rIns="0" bIns="0" rtlCol="0" anchor="t">
            <a:spAutoFit/>
          </a:bodyPr>
          <a:lstStyle/>
          <a:p>
            <a:pPr algn="ctr">
              <a:lnSpc>
                <a:spcPts val="12880"/>
              </a:lnSpc>
            </a:pPr>
            <a:r>
              <a:rPr lang="en-US" sz="8800" dirty="0">
                <a:solidFill>
                  <a:srgbClr val="EAEAEA"/>
                </a:solidFill>
                <a:latin typeface="Jeepers"/>
              </a:rPr>
              <a:t>IN GAME</a:t>
            </a:r>
          </a:p>
        </p:txBody>
      </p:sp>
      <p:pic>
        <p:nvPicPr>
          <p:cNvPr id="8" name="Picture 7">
            <a:extLst>
              <a:ext uri="{FF2B5EF4-FFF2-40B4-BE49-F238E27FC236}">
                <a16:creationId xmlns:a16="http://schemas.microsoft.com/office/drawing/2014/main" id="{5B1A44A6-EC64-4E7A-47F6-38BA085DE4BA}"/>
              </a:ext>
            </a:extLst>
          </p:cNvPr>
          <p:cNvPicPr>
            <a:picLocks noChangeAspect="1"/>
          </p:cNvPicPr>
          <p:nvPr/>
        </p:nvPicPr>
        <p:blipFill>
          <a:blip r:embed="rId4"/>
          <a:stretch>
            <a:fillRect/>
          </a:stretch>
        </p:blipFill>
        <p:spPr>
          <a:xfrm>
            <a:off x="100641" y="114300"/>
            <a:ext cx="6649378" cy="5287113"/>
          </a:xfrm>
          <a:prstGeom prst="rect">
            <a:avLst/>
          </a:prstGeom>
        </p:spPr>
      </p:pic>
      <p:pic>
        <p:nvPicPr>
          <p:cNvPr id="10" name="Picture 9">
            <a:extLst>
              <a:ext uri="{FF2B5EF4-FFF2-40B4-BE49-F238E27FC236}">
                <a16:creationId xmlns:a16="http://schemas.microsoft.com/office/drawing/2014/main" id="{39C82C87-4001-7ECA-531E-68769C1894D8}"/>
              </a:ext>
            </a:extLst>
          </p:cNvPr>
          <p:cNvPicPr>
            <a:picLocks noChangeAspect="1"/>
          </p:cNvPicPr>
          <p:nvPr/>
        </p:nvPicPr>
        <p:blipFill>
          <a:blip r:embed="rId5"/>
          <a:stretch>
            <a:fillRect/>
          </a:stretch>
        </p:blipFill>
        <p:spPr>
          <a:xfrm>
            <a:off x="6858000" y="5253486"/>
            <a:ext cx="6272436" cy="4010659"/>
          </a:xfrm>
          <a:prstGeom prst="rect">
            <a:avLst/>
          </a:prstGeom>
        </p:spPr>
      </p:pic>
      <p:pic>
        <p:nvPicPr>
          <p:cNvPr id="12" name="Picture 11">
            <a:extLst>
              <a:ext uri="{FF2B5EF4-FFF2-40B4-BE49-F238E27FC236}">
                <a16:creationId xmlns:a16="http://schemas.microsoft.com/office/drawing/2014/main" id="{EDE5977D-5361-40D5-4828-D8E143B75560}"/>
              </a:ext>
            </a:extLst>
          </p:cNvPr>
          <p:cNvPicPr>
            <a:picLocks noChangeAspect="1"/>
          </p:cNvPicPr>
          <p:nvPr/>
        </p:nvPicPr>
        <p:blipFill>
          <a:blip r:embed="rId6"/>
          <a:stretch>
            <a:fillRect/>
          </a:stretch>
        </p:blipFill>
        <p:spPr>
          <a:xfrm>
            <a:off x="12623856" y="114300"/>
            <a:ext cx="5579269" cy="5029200"/>
          </a:xfrm>
          <a:prstGeom prst="rect">
            <a:avLst/>
          </a:prstGeom>
        </p:spPr>
      </p:pic>
    </p:spTree>
  </p:cSld>
  <p:clrMapOvr>
    <a:masterClrMapping/>
  </p:clrMapOvr>
  <p:transition>
    <p:push/>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3F403A"/>
        </a:solidFill>
        <a:effectLst/>
      </p:bgPr>
    </p:bg>
    <p:spTree>
      <p:nvGrpSpPr>
        <p:cNvPr id="1" name=""/>
        <p:cNvGrpSpPr/>
        <p:nvPr/>
      </p:nvGrpSpPr>
      <p:grpSpPr>
        <a:xfrm>
          <a:off x="0" y="0"/>
          <a:ext cx="0" cy="0"/>
          <a:chOff x="0" y="0"/>
          <a:chExt cx="0" cy="0"/>
        </a:xfrm>
      </p:grpSpPr>
      <p:sp>
        <p:nvSpPr>
          <p:cNvPr id="2" name="Freeform 2"/>
          <p:cNvSpPr/>
          <p:nvPr/>
        </p:nvSpPr>
        <p:spPr>
          <a:xfrm>
            <a:off x="12908228" y="5266624"/>
            <a:ext cx="7303770" cy="8229600"/>
          </a:xfrm>
          <a:custGeom>
            <a:avLst/>
            <a:gdLst/>
            <a:ahLst/>
            <a:cxnLst/>
            <a:rect l="l" t="t" r="r" b="b"/>
            <a:pathLst>
              <a:path w="7303770" h="8229600">
                <a:moveTo>
                  <a:pt x="0" y="0"/>
                </a:moveTo>
                <a:lnTo>
                  <a:pt x="7303770" y="0"/>
                </a:lnTo>
                <a:lnTo>
                  <a:pt x="7303770" y="8229600"/>
                </a:lnTo>
                <a:lnTo>
                  <a:pt x="0" y="8229600"/>
                </a:lnTo>
                <a:lnTo>
                  <a:pt x="0" y="0"/>
                </a:lnTo>
                <a:close/>
              </a:path>
            </a:pathLst>
          </a:custGeom>
          <a:blipFill>
            <a:blip r:embed="rId2"/>
            <a:stretch>
              <a:fillRect/>
            </a:stretch>
          </a:blipFill>
        </p:spPr>
        <p:txBody>
          <a:bodyPr/>
          <a:lstStyle/>
          <a:p>
            <a:endParaRPr lang="en-IN"/>
          </a:p>
        </p:txBody>
      </p:sp>
      <p:sp>
        <p:nvSpPr>
          <p:cNvPr id="3" name="Freeform 3"/>
          <p:cNvSpPr/>
          <p:nvPr/>
        </p:nvSpPr>
        <p:spPr>
          <a:xfrm>
            <a:off x="-1369019" y="-1969536"/>
            <a:ext cx="9568387" cy="12800517"/>
          </a:xfrm>
          <a:custGeom>
            <a:avLst/>
            <a:gdLst/>
            <a:ahLst/>
            <a:cxnLst/>
            <a:rect l="l" t="t" r="r" b="b"/>
            <a:pathLst>
              <a:path w="9568387" h="12800517">
                <a:moveTo>
                  <a:pt x="0" y="0"/>
                </a:moveTo>
                <a:lnTo>
                  <a:pt x="9568387" y="0"/>
                </a:lnTo>
                <a:lnTo>
                  <a:pt x="9568387" y="12800517"/>
                </a:lnTo>
                <a:lnTo>
                  <a:pt x="0" y="12800517"/>
                </a:lnTo>
                <a:lnTo>
                  <a:pt x="0" y="0"/>
                </a:lnTo>
                <a:close/>
              </a:path>
            </a:pathLst>
          </a:custGeom>
          <a:blipFill>
            <a:blip r:embed="rId3"/>
            <a:stretch>
              <a:fillRect/>
            </a:stretch>
          </a:blipFill>
        </p:spPr>
        <p:txBody>
          <a:bodyPr/>
          <a:lstStyle/>
          <a:p>
            <a:endParaRPr lang="en-IN"/>
          </a:p>
        </p:txBody>
      </p:sp>
      <p:sp>
        <p:nvSpPr>
          <p:cNvPr id="5" name="TextBox 5"/>
          <p:cNvSpPr txBox="1"/>
          <p:nvPr/>
        </p:nvSpPr>
        <p:spPr>
          <a:xfrm>
            <a:off x="7010846" y="460716"/>
            <a:ext cx="4266307" cy="1576069"/>
          </a:xfrm>
          <a:prstGeom prst="rect">
            <a:avLst/>
          </a:prstGeom>
        </p:spPr>
        <p:txBody>
          <a:bodyPr lIns="0" tIns="0" rIns="0" bIns="0" rtlCol="0" anchor="t">
            <a:spAutoFit/>
          </a:bodyPr>
          <a:lstStyle/>
          <a:p>
            <a:pPr algn="ctr">
              <a:lnSpc>
                <a:spcPts val="12880"/>
              </a:lnSpc>
            </a:pPr>
            <a:r>
              <a:rPr lang="en-US" sz="9200">
                <a:solidFill>
                  <a:srgbClr val="EAEAEA"/>
                </a:solidFill>
                <a:latin typeface="Jeepers"/>
              </a:rPr>
              <a:t>End Menu</a:t>
            </a:r>
          </a:p>
        </p:txBody>
      </p:sp>
      <p:pic>
        <p:nvPicPr>
          <p:cNvPr id="7" name="Picture 6">
            <a:extLst>
              <a:ext uri="{FF2B5EF4-FFF2-40B4-BE49-F238E27FC236}">
                <a16:creationId xmlns:a16="http://schemas.microsoft.com/office/drawing/2014/main" id="{1D837624-4458-D561-7C0A-80833BA3A044}"/>
              </a:ext>
            </a:extLst>
          </p:cNvPr>
          <p:cNvPicPr>
            <a:picLocks noChangeAspect="1"/>
          </p:cNvPicPr>
          <p:nvPr/>
        </p:nvPicPr>
        <p:blipFill>
          <a:blip r:embed="rId4"/>
          <a:stretch>
            <a:fillRect/>
          </a:stretch>
        </p:blipFill>
        <p:spPr>
          <a:xfrm>
            <a:off x="4433230" y="2418970"/>
            <a:ext cx="9421540" cy="5449060"/>
          </a:xfrm>
          <a:prstGeom prst="rect">
            <a:avLst/>
          </a:prstGeom>
        </p:spPr>
      </p:pic>
    </p:spTree>
  </p:cSld>
  <p:clrMapOvr>
    <a:masterClrMapping/>
  </p:clrMapOvr>
  <p:transition spd="slow">
    <p:cover/>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4D5E7A"/>
        </a:solidFill>
        <a:effectLst/>
      </p:bgPr>
    </p:bg>
    <p:spTree>
      <p:nvGrpSpPr>
        <p:cNvPr id="1" name=""/>
        <p:cNvGrpSpPr/>
        <p:nvPr/>
      </p:nvGrpSpPr>
      <p:grpSpPr>
        <a:xfrm>
          <a:off x="0" y="0"/>
          <a:ext cx="0" cy="0"/>
          <a:chOff x="0" y="0"/>
          <a:chExt cx="0" cy="0"/>
        </a:xfrm>
      </p:grpSpPr>
      <p:sp>
        <p:nvSpPr>
          <p:cNvPr id="2" name="Freeform 2"/>
          <p:cNvSpPr/>
          <p:nvPr/>
        </p:nvSpPr>
        <p:spPr>
          <a:xfrm>
            <a:off x="12908228" y="5266624"/>
            <a:ext cx="7303770" cy="8229600"/>
          </a:xfrm>
          <a:custGeom>
            <a:avLst/>
            <a:gdLst/>
            <a:ahLst/>
            <a:cxnLst/>
            <a:rect l="l" t="t" r="r" b="b"/>
            <a:pathLst>
              <a:path w="7303770" h="8229600">
                <a:moveTo>
                  <a:pt x="0" y="0"/>
                </a:moveTo>
                <a:lnTo>
                  <a:pt x="7303770" y="0"/>
                </a:lnTo>
                <a:lnTo>
                  <a:pt x="7303770" y="8229600"/>
                </a:lnTo>
                <a:lnTo>
                  <a:pt x="0" y="8229600"/>
                </a:lnTo>
                <a:lnTo>
                  <a:pt x="0" y="0"/>
                </a:lnTo>
                <a:close/>
              </a:path>
            </a:pathLst>
          </a:custGeom>
          <a:blipFill>
            <a:blip r:embed="rId2"/>
            <a:stretch>
              <a:fillRect/>
            </a:stretch>
          </a:blipFill>
        </p:spPr>
        <p:txBody>
          <a:bodyPr/>
          <a:lstStyle/>
          <a:p>
            <a:endParaRPr lang="en-IN"/>
          </a:p>
        </p:txBody>
      </p:sp>
      <p:sp>
        <p:nvSpPr>
          <p:cNvPr id="3" name="Freeform 3"/>
          <p:cNvSpPr/>
          <p:nvPr/>
        </p:nvSpPr>
        <p:spPr>
          <a:xfrm>
            <a:off x="-1369019" y="-1969536"/>
            <a:ext cx="9568387" cy="12800517"/>
          </a:xfrm>
          <a:custGeom>
            <a:avLst/>
            <a:gdLst/>
            <a:ahLst/>
            <a:cxnLst/>
            <a:rect l="l" t="t" r="r" b="b"/>
            <a:pathLst>
              <a:path w="9568387" h="12800517">
                <a:moveTo>
                  <a:pt x="0" y="0"/>
                </a:moveTo>
                <a:lnTo>
                  <a:pt x="9568387" y="0"/>
                </a:lnTo>
                <a:lnTo>
                  <a:pt x="9568387" y="12800517"/>
                </a:lnTo>
                <a:lnTo>
                  <a:pt x="0" y="12800517"/>
                </a:lnTo>
                <a:lnTo>
                  <a:pt x="0" y="0"/>
                </a:lnTo>
                <a:close/>
              </a:path>
            </a:pathLst>
          </a:custGeom>
          <a:blipFill>
            <a:blip r:embed="rId3"/>
            <a:stretch>
              <a:fillRect/>
            </a:stretch>
          </a:blipFill>
        </p:spPr>
        <p:txBody>
          <a:bodyPr/>
          <a:lstStyle/>
          <a:p>
            <a:endParaRPr lang="en-IN"/>
          </a:p>
        </p:txBody>
      </p:sp>
      <p:sp>
        <p:nvSpPr>
          <p:cNvPr id="9" name="TextBox 9"/>
          <p:cNvSpPr txBox="1"/>
          <p:nvPr/>
        </p:nvSpPr>
        <p:spPr>
          <a:xfrm>
            <a:off x="6747867" y="847725"/>
            <a:ext cx="4792266" cy="1576069"/>
          </a:xfrm>
          <a:prstGeom prst="rect">
            <a:avLst/>
          </a:prstGeom>
        </p:spPr>
        <p:txBody>
          <a:bodyPr lIns="0" tIns="0" rIns="0" bIns="0" rtlCol="0" anchor="t">
            <a:spAutoFit/>
          </a:bodyPr>
          <a:lstStyle/>
          <a:p>
            <a:pPr algn="ctr">
              <a:lnSpc>
                <a:spcPts val="12880"/>
              </a:lnSpc>
            </a:pPr>
            <a:r>
              <a:rPr lang="en-US" sz="9200">
                <a:solidFill>
                  <a:srgbClr val="FFFFFF"/>
                </a:solidFill>
                <a:latin typeface="Jeepers"/>
              </a:rPr>
              <a:t>ASSET USED</a:t>
            </a:r>
          </a:p>
        </p:txBody>
      </p:sp>
      <p:pic>
        <p:nvPicPr>
          <p:cNvPr id="11" name="Picture 10">
            <a:extLst>
              <a:ext uri="{FF2B5EF4-FFF2-40B4-BE49-F238E27FC236}">
                <a16:creationId xmlns:a16="http://schemas.microsoft.com/office/drawing/2014/main" id="{3C807FC0-67E9-60B3-40F0-B5932F0AFF60}"/>
              </a:ext>
            </a:extLst>
          </p:cNvPr>
          <p:cNvPicPr>
            <a:picLocks noChangeAspect="1"/>
          </p:cNvPicPr>
          <p:nvPr/>
        </p:nvPicPr>
        <p:blipFill>
          <a:blip r:embed="rId4"/>
          <a:stretch>
            <a:fillRect/>
          </a:stretch>
        </p:blipFill>
        <p:spPr>
          <a:xfrm>
            <a:off x="1219200" y="2712578"/>
            <a:ext cx="7802064" cy="2581635"/>
          </a:xfrm>
          <a:prstGeom prst="rect">
            <a:avLst/>
          </a:prstGeom>
        </p:spPr>
      </p:pic>
      <p:pic>
        <p:nvPicPr>
          <p:cNvPr id="13" name="Picture 12">
            <a:extLst>
              <a:ext uri="{FF2B5EF4-FFF2-40B4-BE49-F238E27FC236}">
                <a16:creationId xmlns:a16="http://schemas.microsoft.com/office/drawing/2014/main" id="{C2D3243C-F32F-3174-3D04-3573E7808D41}"/>
              </a:ext>
            </a:extLst>
          </p:cNvPr>
          <p:cNvPicPr>
            <a:picLocks noChangeAspect="1"/>
          </p:cNvPicPr>
          <p:nvPr/>
        </p:nvPicPr>
        <p:blipFill>
          <a:blip r:embed="rId5"/>
          <a:stretch>
            <a:fillRect/>
          </a:stretch>
        </p:blipFill>
        <p:spPr>
          <a:xfrm>
            <a:off x="14325600" y="419100"/>
            <a:ext cx="2800741" cy="1876687"/>
          </a:xfrm>
          <a:prstGeom prst="rect">
            <a:avLst/>
          </a:prstGeom>
        </p:spPr>
      </p:pic>
      <p:pic>
        <p:nvPicPr>
          <p:cNvPr id="15" name="Picture 14">
            <a:extLst>
              <a:ext uri="{FF2B5EF4-FFF2-40B4-BE49-F238E27FC236}">
                <a16:creationId xmlns:a16="http://schemas.microsoft.com/office/drawing/2014/main" id="{F27A6726-FB6B-E2DB-67F5-35B46103F957}"/>
              </a:ext>
            </a:extLst>
          </p:cNvPr>
          <p:cNvPicPr>
            <a:picLocks noChangeAspect="1"/>
          </p:cNvPicPr>
          <p:nvPr/>
        </p:nvPicPr>
        <p:blipFill>
          <a:blip r:embed="rId6"/>
          <a:stretch>
            <a:fillRect/>
          </a:stretch>
        </p:blipFill>
        <p:spPr>
          <a:xfrm>
            <a:off x="10076827" y="3543300"/>
            <a:ext cx="3591426" cy="2181529"/>
          </a:xfrm>
          <a:prstGeom prst="rect">
            <a:avLst/>
          </a:prstGeom>
        </p:spPr>
      </p:pic>
      <p:pic>
        <p:nvPicPr>
          <p:cNvPr id="17" name="Picture 16">
            <a:extLst>
              <a:ext uri="{FF2B5EF4-FFF2-40B4-BE49-F238E27FC236}">
                <a16:creationId xmlns:a16="http://schemas.microsoft.com/office/drawing/2014/main" id="{2C6C07BF-1395-7A07-AFD1-9E8D9FCF7E1C}"/>
              </a:ext>
            </a:extLst>
          </p:cNvPr>
          <p:cNvPicPr>
            <a:picLocks noChangeAspect="1"/>
          </p:cNvPicPr>
          <p:nvPr/>
        </p:nvPicPr>
        <p:blipFill>
          <a:blip r:embed="rId7"/>
          <a:stretch>
            <a:fillRect/>
          </a:stretch>
        </p:blipFill>
        <p:spPr>
          <a:xfrm>
            <a:off x="1066800" y="5946690"/>
            <a:ext cx="3629532" cy="4029637"/>
          </a:xfrm>
          <a:prstGeom prst="rect">
            <a:avLst/>
          </a:prstGeom>
        </p:spPr>
      </p:pic>
      <p:pic>
        <p:nvPicPr>
          <p:cNvPr id="19" name="Picture 18">
            <a:extLst>
              <a:ext uri="{FF2B5EF4-FFF2-40B4-BE49-F238E27FC236}">
                <a16:creationId xmlns:a16="http://schemas.microsoft.com/office/drawing/2014/main" id="{CF49E21A-9548-3A19-DE17-1E03F40DDD55}"/>
              </a:ext>
            </a:extLst>
          </p:cNvPr>
          <p:cNvPicPr>
            <a:picLocks noChangeAspect="1"/>
          </p:cNvPicPr>
          <p:nvPr/>
        </p:nvPicPr>
        <p:blipFill>
          <a:blip r:embed="rId8"/>
          <a:stretch>
            <a:fillRect/>
          </a:stretch>
        </p:blipFill>
        <p:spPr>
          <a:xfrm>
            <a:off x="6147177" y="5582997"/>
            <a:ext cx="2761112" cy="4457700"/>
          </a:xfrm>
          <a:prstGeom prst="rect">
            <a:avLst/>
          </a:prstGeom>
        </p:spPr>
      </p:pic>
    </p:spTree>
  </p:cSld>
  <p:clrMapOvr>
    <a:masterClrMapping/>
  </p:clrMapOvr>
  <p:transition>
    <p:cover dir="d"/>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4D5E7A"/>
        </a:solidFill>
        <a:effectLst/>
      </p:bgPr>
    </p:bg>
    <p:spTree>
      <p:nvGrpSpPr>
        <p:cNvPr id="1" name=""/>
        <p:cNvGrpSpPr/>
        <p:nvPr/>
      </p:nvGrpSpPr>
      <p:grpSpPr>
        <a:xfrm>
          <a:off x="0" y="0"/>
          <a:ext cx="0" cy="0"/>
          <a:chOff x="0" y="0"/>
          <a:chExt cx="0" cy="0"/>
        </a:xfrm>
      </p:grpSpPr>
      <p:sp>
        <p:nvSpPr>
          <p:cNvPr id="2" name="Freeform 2"/>
          <p:cNvSpPr/>
          <p:nvPr/>
        </p:nvSpPr>
        <p:spPr>
          <a:xfrm rot="-3063119">
            <a:off x="13603915" y="1082121"/>
            <a:ext cx="8656212" cy="8754703"/>
          </a:xfrm>
          <a:custGeom>
            <a:avLst/>
            <a:gdLst/>
            <a:ahLst/>
            <a:cxnLst/>
            <a:rect l="l" t="t" r="r" b="b"/>
            <a:pathLst>
              <a:path w="8656212" h="8754703">
                <a:moveTo>
                  <a:pt x="0" y="0"/>
                </a:moveTo>
                <a:lnTo>
                  <a:pt x="8656213" y="0"/>
                </a:lnTo>
                <a:lnTo>
                  <a:pt x="8656213" y="8754703"/>
                </a:lnTo>
                <a:lnTo>
                  <a:pt x="0" y="8754703"/>
                </a:lnTo>
                <a:lnTo>
                  <a:pt x="0" y="0"/>
                </a:lnTo>
                <a:close/>
              </a:path>
            </a:pathLst>
          </a:custGeom>
          <a:blipFill>
            <a:blip r:embed="rId2"/>
            <a:stretch>
              <a:fillRect/>
            </a:stretch>
          </a:blipFill>
        </p:spPr>
        <p:txBody>
          <a:bodyPr/>
          <a:lstStyle/>
          <a:p>
            <a:endParaRPr lang="en-IN"/>
          </a:p>
        </p:txBody>
      </p:sp>
      <p:sp>
        <p:nvSpPr>
          <p:cNvPr id="3" name="Freeform 3"/>
          <p:cNvSpPr/>
          <p:nvPr/>
        </p:nvSpPr>
        <p:spPr>
          <a:xfrm>
            <a:off x="12976657" y="729625"/>
            <a:ext cx="3119537" cy="3288050"/>
          </a:xfrm>
          <a:custGeom>
            <a:avLst/>
            <a:gdLst/>
            <a:ahLst/>
            <a:cxnLst/>
            <a:rect l="l" t="t" r="r" b="b"/>
            <a:pathLst>
              <a:path w="3119537" h="3288050">
                <a:moveTo>
                  <a:pt x="0" y="0"/>
                </a:moveTo>
                <a:lnTo>
                  <a:pt x="3119537" y="0"/>
                </a:lnTo>
                <a:lnTo>
                  <a:pt x="3119537" y="3288049"/>
                </a:lnTo>
                <a:lnTo>
                  <a:pt x="0" y="3288049"/>
                </a:lnTo>
                <a:lnTo>
                  <a:pt x="0" y="0"/>
                </a:lnTo>
                <a:close/>
              </a:path>
            </a:pathLst>
          </a:custGeom>
          <a:blipFill>
            <a:blip r:embed="rId3"/>
            <a:stretch>
              <a:fillRect/>
            </a:stretch>
          </a:blipFill>
        </p:spPr>
        <p:txBody>
          <a:bodyPr/>
          <a:lstStyle/>
          <a:p>
            <a:endParaRPr lang="en-IN"/>
          </a:p>
        </p:txBody>
      </p:sp>
      <p:sp>
        <p:nvSpPr>
          <p:cNvPr id="4" name="TextBox 4"/>
          <p:cNvSpPr txBox="1"/>
          <p:nvPr/>
        </p:nvSpPr>
        <p:spPr>
          <a:xfrm>
            <a:off x="1417923" y="1878350"/>
            <a:ext cx="12642926" cy="1464311"/>
          </a:xfrm>
          <a:prstGeom prst="rect">
            <a:avLst/>
          </a:prstGeom>
        </p:spPr>
        <p:txBody>
          <a:bodyPr lIns="0" tIns="0" rIns="0" bIns="0" rtlCol="0" anchor="t">
            <a:spAutoFit/>
          </a:bodyPr>
          <a:lstStyle/>
          <a:p>
            <a:pPr>
              <a:lnSpc>
                <a:spcPts val="12799"/>
              </a:lnSpc>
            </a:pPr>
            <a:r>
              <a:rPr lang="en-US" sz="6399">
                <a:solidFill>
                  <a:srgbClr val="FFFFFF"/>
                </a:solidFill>
                <a:latin typeface="Jeepers"/>
              </a:rPr>
              <a:t>PROBLEMS FACED</a:t>
            </a:r>
          </a:p>
        </p:txBody>
      </p:sp>
      <p:sp>
        <p:nvSpPr>
          <p:cNvPr id="5" name="TextBox 5"/>
          <p:cNvSpPr txBox="1"/>
          <p:nvPr/>
        </p:nvSpPr>
        <p:spPr>
          <a:xfrm>
            <a:off x="1304277" y="3817649"/>
            <a:ext cx="16627745" cy="4581767"/>
          </a:xfrm>
          <a:prstGeom prst="rect">
            <a:avLst/>
          </a:prstGeom>
        </p:spPr>
        <p:txBody>
          <a:bodyPr lIns="0" tIns="0" rIns="0" bIns="0" rtlCol="0" anchor="t">
            <a:spAutoFit/>
          </a:bodyPr>
          <a:lstStyle/>
          <a:p>
            <a:pPr marL="564911" lvl="1" indent="-282455">
              <a:lnSpc>
                <a:spcPts val="5233"/>
              </a:lnSpc>
              <a:buFont typeface="Arial"/>
              <a:buChar char="•"/>
            </a:pPr>
            <a:r>
              <a:rPr lang="en-US" sz="2616" spc="635" dirty="0">
                <a:solidFill>
                  <a:srgbClr val="FFFFFF"/>
                </a:solidFill>
                <a:latin typeface="TT Commons Pro"/>
              </a:rPr>
              <a:t>Execution of the health mechanism in game.</a:t>
            </a:r>
          </a:p>
          <a:p>
            <a:pPr marL="564911" lvl="1" indent="-282455">
              <a:lnSpc>
                <a:spcPts val="5233"/>
              </a:lnSpc>
              <a:buFont typeface="Arial"/>
              <a:buChar char="•"/>
            </a:pPr>
            <a:r>
              <a:rPr lang="en-US" sz="2616" spc="635" dirty="0">
                <a:solidFill>
                  <a:srgbClr val="FFFFFF"/>
                </a:solidFill>
                <a:latin typeface="TT Commons Pro"/>
              </a:rPr>
              <a:t>Trouble making player combat and enemies.</a:t>
            </a:r>
          </a:p>
          <a:p>
            <a:pPr marL="564911" lvl="1" indent="-282455">
              <a:lnSpc>
                <a:spcPts val="5233"/>
              </a:lnSpc>
              <a:buFont typeface="Arial"/>
              <a:buChar char="•"/>
            </a:pPr>
            <a:r>
              <a:rPr lang="en-US" sz="2616" spc="635" dirty="0">
                <a:solidFill>
                  <a:srgbClr val="FFFFFF"/>
                </a:solidFill>
                <a:latin typeface="TT Commons Pro"/>
              </a:rPr>
              <a:t>Bugs caused by blueprints.</a:t>
            </a:r>
          </a:p>
          <a:p>
            <a:pPr marL="564911" lvl="1" indent="-282455">
              <a:lnSpc>
                <a:spcPts val="5233"/>
              </a:lnSpc>
              <a:buFont typeface="Arial"/>
              <a:buChar char="•"/>
            </a:pPr>
            <a:r>
              <a:rPr lang="en-US" sz="2616" spc="635" dirty="0">
                <a:solidFill>
                  <a:srgbClr val="FFFFFF"/>
                </a:solidFill>
                <a:latin typeface="TT Commons Pro"/>
              </a:rPr>
              <a:t>Unreal crashing problem.</a:t>
            </a:r>
          </a:p>
          <a:p>
            <a:pPr marL="564911" lvl="1" indent="-282455">
              <a:lnSpc>
                <a:spcPts val="5233"/>
              </a:lnSpc>
              <a:buFont typeface="Arial"/>
              <a:buChar char="•"/>
            </a:pPr>
            <a:r>
              <a:rPr lang="en-US" sz="2616" spc="635" dirty="0">
                <a:solidFill>
                  <a:srgbClr val="FFFFFF"/>
                </a:solidFill>
                <a:latin typeface="TT Commons Pro"/>
              </a:rPr>
              <a:t>Weapon System implementation.</a:t>
            </a:r>
          </a:p>
          <a:p>
            <a:pPr marL="564911" lvl="1" indent="-282455">
              <a:lnSpc>
                <a:spcPts val="5233"/>
              </a:lnSpc>
              <a:buFont typeface="Arial"/>
              <a:buChar char="•"/>
            </a:pPr>
            <a:r>
              <a:rPr lang="en-US" sz="2616" spc="635" dirty="0">
                <a:solidFill>
                  <a:srgbClr val="FFFFFF"/>
                </a:solidFill>
                <a:latin typeface="TT Commons Pro"/>
              </a:rPr>
              <a:t>Enemy AI Implementation.</a:t>
            </a:r>
          </a:p>
          <a:p>
            <a:pPr marL="564911" lvl="1" indent="-282455">
              <a:lnSpc>
                <a:spcPts val="5233"/>
              </a:lnSpc>
              <a:buFont typeface="Arial"/>
              <a:buChar char="•"/>
            </a:pPr>
            <a:r>
              <a:rPr lang="en-US" sz="2616" spc="635" dirty="0" err="1">
                <a:solidFill>
                  <a:srgbClr val="FFFFFF"/>
                </a:solidFill>
                <a:latin typeface="TT Commons Pro"/>
              </a:rPr>
              <a:t>NavMesh</a:t>
            </a:r>
            <a:r>
              <a:rPr lang="en-US" sz="2616" spc="635" dirty="0">
                <a:solidFill>
                  <a:srgbClr val="FFFFFF"/>
                </a:solidFill>
                <a:latin typeface="TT Commons Pro"/>
              </a:rPr>
              <a:t> </a:t>
            </a:r>
            <a:r>
              <a:rPr lang="en-US" sz="2616" spc="635" dirty="0" err="1">
                <a:solidFill>
                  <a:srgbClr val="FFFFFF"/>
                </a:solidFill>
                <a:latin typeface="TT Commons Pro"/>
              </a:rPr>
              <a:t>Implementatioon</a:t>
            </a:r>
            <a:r>
              <a:rPr lang="en-US" sz="2616" spc="635" dirty="0">
                <a:solidFill>
                  <a:srgbClr val="FFFFFF"/>
                </a:solidFill>
                <a:latin typeface="TT Commons Pro"/>
              </a:rPr>
              <a:t>.</a:t>
            </a:r>
          </a:p>
        </p:txBody>
      </p:sp>
    </p:spTree>
  </p:cSld>
  <p:clrMapOvr>
    <a:masterClrMapping/>
  </p:clrMapOvr>
  <p:transition>
    <p:push/>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4D5E7A"/>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TotalTime>
  <Words>283</Words>
  <Application>Microsoft Office PowerPoint</Application>
  <PresentationFormat>Custom</PresentationFormat>
  <Paragraphs>58</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TT Commons Pro</vt:lpstr>
      <vt:lpstr>Open Sauce</vt:lpstr>
      <vt:lpstr>Jeepers</vt:lpstr>
      <vt:lpstr>Calibri</vt:lpstr>
      <vt:lpstr>Arial</vt:lpstr>
      <vt:lpstr>Cantora One</vt:lpstr>
      <vt:lpstr>Butcherman Caps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KARLHEINZ ASYLUM</dc:title>
  <cp:lastModifiedBy>Gauraang Goel</cp:lastModifiedBy>
  <cp:revision>6</cp:revision>
  <dcterms:created xsi:type="dcterms:W3CDTF">2006-08-16T00:00:00Z</dcterms:created>
  <dcterms:modified xsi:type="dcterms:W3CDTF">2024-12-20T22:04:20Z</dcterms:modified>
  <dc:identifier>DAFxpb_xLag</dc:identifier>
</cp:coreProperties>
</file>